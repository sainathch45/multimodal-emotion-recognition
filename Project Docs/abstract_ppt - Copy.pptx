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8"/>
  </p:notesMasterIdLst>
  <p:sldIdLst>
    <p:sldId id="279" r:id="rId2"/>
    <p:sldId id="257" r:id="rId3"/>
    <p:sldId id="261" r:id="rId4"/>
    <p:sldId id="262" r:id="rId5"/>
    <p:sldId id="278" r:id="rId6"/>
    <p:sldId id="277" r:id="rId7"/>
    <p:sldId id="276" r:id="rId8"/>
    <p:sldId id="265" r:id="rId9"/>
    <p:sldId id="266" r:id="rId10"/>
    <p:sldId id="280" r:id="rId11"/>
    <p:sldId id="288" r:id="rId12"/>
    <p:sldId id="273" r:id="rId13"/>
    <p:sldId id="296" r:id="rId14"/>
    <p:sldId id="297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8742BC-B97F-4C10-B134-4B1CFEB77357}">
          <p14:sldIdLst>
            <p14:sldId id="279"/>
            <p14:sldId id="257"/>
            <p14:sldId id="261"/>
            <p14:sldId id="262"/>
            <p14:sldId id="278"/>
            <p14:sldId id="277"/>
            <p14:sldId id="276"/>
            <p14:sldId id="265"/>
            <p14:sldId id="266"/>
            <p14:sldId id="280"/>
            <p14:sldId id="288"/>
            <p14:sldId id="273"/>
            <p14:sldId id="296"/>
            <p14:sldId id="297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F65AD6-BADF-7891-C457-5E1E1E316F67}" name="Sainath Ch" initials="SC" userId="fd5cca9dc93f902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68" autoAdjust="0"/>
  </p:normalViewPr>
  <p:slideViewPr>
    <p:cSldViewPr snapToGrid="0">
      <p:cViewPr varScale="1">
        <p:scale>
          <a:sx n="90" d="100"/>
          <a:sy n="9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798F0-95BF-4DB3-AFB1-EA623983663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72182-68E7-433B-8DAD-E9D22D9514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76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182-68E7-433B-8DAD-E9D22D95140E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7105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CC475-9845-F2D0-4EA3-7D61D15C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60F58-DF46-1D61-94B1-A7AFF87EE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BE0DE-71E8-E1F3-D7E0-3951BFC9F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225D5-5B70-DEA9-8500-0181BEAEA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182-68E7-433B-8DAD-E9D22D95140E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023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DDF5-17BB-0ABA-73C9-A1000D56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C4096-129B-9033-E984-8958ED2C2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55CC1-DF60-42B6-7D38-6C340F458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28149-4E6B-79C8-F2D2-46ADF5361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182-68E7-433B-8DAD-E9D22D95140E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120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8E71-5890-8702-56E7-B8205A4F8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73926-A759-D51B-2456-CAA7D8378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9B2DA-6D3F-11A9-9DB6-F4FFBFF63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DF962-A040-C731-053A-62CD6EB04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182-68E7-433B-8DAD-E9D22D95140E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15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2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F55D65-12B0-400F-ACD4-7D3E1C5297FE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20B33-6186-9036-BCF7-794569AB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>
            <a:extLst>
              <a:ext uri="{FF2B5EF4-FFF2-40B4-BE49-F238E27FC236}">
                <a16:creationId xmlns:a16="http://schemas.microsoft.com/office/drawing/2014/main" id="{24CA4708-3654-5D44-9EC0-B8FD64EFB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>
            <a:extLst>
              <a:ext uri="{FF2B5EF4-FFF2-40B4-BE49-F238E27FC236}">
                <a16:creationId xmlns:a16="http://schemas.microsoft.com/office/drawing/2014/main" id="{0B7E4FF2-5C7F-4854-D5D0-EC75CCA2F5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>
            <a:extLst>
              <a:ext uri="{FF2B5EF4-FFF2-40B4-BE49-F238E27FC236}">
                <a16:creationId xmlns:a16="http://schemas.microsoft.com/office/drawing/2014/main" id="{1A5B7CD1-CEB3-8225-35A2-C80838B078C8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F55D65-12B0-400F-ACD4-7D3E1C5297FE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14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897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97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628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51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296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82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77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2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455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22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19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70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0044E-E001-4D12-9166-A5276B05859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18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9E18-4842-03F3-2F6E-235D995DA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348B7A-6C1B-F0DB-702A-5811449B9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0375" y="533400"/>
            <a:ext cx="2887663" cy="910441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6D59A-6EB6-3E48-5CB1-7A3CFD97AABF}"/>
              </a:ext>
            </a:extLst>
          </p:cNvPr>
          <p:cNvSpPr txBox="1"/>
          <p:nvPr/>
        </p:nvSpPr>
        <p:spPr>
          <a:xfrm>
            <a:off x="600375" y="1443841"/>
            <a:ext cx="109912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emotions are expressed through a complex combination of speech, verbal cues, and language, making their automated recognition a challenging multimodal problem. Existing transformer-based emotion recognition systems achieve high accuracy but often suffer from heavy computational requirements, vulnerability to noisy or missing modalities, and poor generalization to underrepresented emotion classes. This project proposes a hybrid transformer framework that achieves lightweight cross-modal fusion and enhanced robustness through adaptive attention mechanisms and reliability-aware feature weighting. To further address class imbalance, the model incorporates targeted data augmentation strategies for low-resource emotion categories, improving diversity and stability in training. The system will be evaluated on benchmark datasets such as CMU-MOSEI and IEMOCAP, comparing efficiency, robustness, and accuracy against existing multimodal transformers. The outcome aims to deliver a resource-efficient, noise-tolerant, and generalizable approach to multimodal emotion understanding-pushing toward practical, real-world deployment in affective computing and human-AI interaction systems.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6007B-3268-DF59-37C6-834E009C5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053" y="199609"/>
            <a:ext cx="1178210" cy="1108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078AC3-8A17-6812-9F8D-DA4D7DB0AC1C}"/>
              </a:ext>
            </a:extLst>
          </p:cNvPr>
          <p:cNvSpPr txBox="1"/>
          <p:nvPr/>
        </p:nvSpPr>
        <p:spPr>
          <a:xfrm flipH="1">
            <a:off x="6191250" y="6492634"/>
            <a:ext cx="674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232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19CB-EBE0-24E1-9C1F-064624A87A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5760" y="1531001"/>
            <a:ext cx="11504507" cy="392826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will aim to develop an intelligent multimodal framework for recognizing human emotions by integrating information from speech, facial expressions, and textual cues.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leverage fusion transformer architectures to learn deep cross-modal relationships that enable the model to interpret complex emotional states more accurately and contextually.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incorporate lightweight attention mechanisms and modality reliability estimation to ensure computational efficiency and robustness against noisy or missing inputs.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performance on underrepresented emotions, the framework will include targeted data augmentation techniques that improve generalization across diverse and low-resource categories.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proof-of-concept application will demonstrate the end-to-end workflow—from multimodal feature extraction to real-time emotion prediction—highlighting potential use cases in human–AI interaction, mental health analysis, and adaptive learning environments.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will establish a modular and scalable foundation for future extensions in affective computing, enabling more empathetic, reliable, and human-centered AI systems.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26B13-AE53-8D76-3034-7A665B82FF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5760" y="167946"/>
            <a:ext cx="10515600" cy="108538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52621"/>
            <a:ext cx="1160080" cy="10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6229349" y="6419126"/>
            <a:ext cx="785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55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1EBA8D-AB89-FA73-1721-2356C6BB54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0375" y="118278"/>
            <a:ext cx="2887663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46FC1-C0E4-4970-E57A-AFF5E983A09C}"/>
              </a:ext>
            </a:extLst>
          </p:cNvPr>
          <p:cNvSpPr txBox="1"/>
          <p:nvPr/>
        </p:nvSpPr>
        <p:spPr>
          <a:xfrm>
            <a:off x="600376" y="1338421"/>
            <a:ext cx="109912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understand human emotions accurately is central to improving human-computer interaction, mental health analysis, and social robotics. However, existing emotion recognition systems often rely on a single modality such as text or speech, which limits their contextual understanding.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conditions, emotional cues appear across multiple channels - voice tone, facial expression, and linguistic content - and may be noisy, incomplete, or contradictory. Current models struggle to integrate these signals effectively, leading to inconsistent or biased interpretations.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multimodal approaches have shown strong performance, but they are often computationally heavy and sensitive to missing or corrupted data, making them unsuitable for real-time or edge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emotion datasets are typically imbalanced, with rare emotions like disgust, surprise, or fear underrepresented, resulting in poor generalization and skewed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project aims to overcome these limitations by developing a lightweight, robust fusion transformer framework that can handle noisy or missing modalities and improve recognition accuracy for low-resource emotion categories through targeted data augmentation.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053" y="199609"/>
            <a:ext cx="1178210" cy="11089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flipH="1">
            <a:off x="6191250" y="6492634"/>
            <a:ext cx="674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02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494015" y="571665"/>
            <a:ext cx="4704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DATA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1832475" y="2753709"/>
            <a:ext cx="8026228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 rot="10800000" flipV="1">
            <a:off x="494015" y="3435076"/>
            <a:ext cx="118519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304" y="186017"/>
            <a:ext cx="1188720" cy="11187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6178964" y="6488668"/>
            <a:ext cx="649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4015" y="1309159"/>
            <a:ext cx="112693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in Affective Computing indicate that over 70% of human communication is non-verbal, conveyed through tone, facial expression, and body language, while text alone captures less than 10% of emotional intent. This underscores the importance of multimodal analysis in emotion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a 2023 Gartner AI report, nearly 58% of human-AI interaction systems fail to interpret user emotions accurately, leading to poor user satisfaction and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 Health Organization (WHO) estimates that one in eight people globally live with a mental health condition. AI-assisted emotional analysis tools have shown potential to support early stress or depression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 continues to hinder progress in emotion recognition - public datasets like CMU-MOSEI and IEMOCAP show that minority emotions (such as disgust, fear, or surprise) appear in less than 8-10% of total samples, causing biased model learning and weak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inefficiency is a major bottleneck in deploying multimodal transformer models: a 2024 benchmark study found that average inference latency for large fusion models exceeds 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input, making them impractical for real-time or mobile deployment.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8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06B7-772E-EA8E-2BA0-CBA285B9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3B5411B-FB23-34C5-FAB2-A96743581E5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10" y="45879"/>
            <a:ext cx="10515600" cy="70392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BE86D13-3F7B-BD7D-F054-914F2BDBC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082" y="86706"/>
            <a:ext cx="813748" cy="7658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EDBBFB-39C0-6502-0BE3-986FD2797E71}"/>
              </a:ext>
            </a:extLst>
          </p:cNvPr>
          <p:cNvSpPr txBox="1"/>
          <p:nvPr/>
        </p:nvSpPr>
        <p:spPr>
          <a:xfrm flipH="1">
            <a:off x="6162675" y="6488668"/>
            <a:ext cx="71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E60D86-EFEF-2DB9-0F77-43CBBEC6A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317794"/>
              </p:ext>
            </p:extLst>
          </p:nvPr>
        </p:nvGraphicFramePr>
        <p:xfrm>
          <a:off x="10510" y="880800"/>
          <a:ext cx="12181488" cy="55050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1950">
                  <a:extLst>
                    <a:ext uri="{9D8B030D-6E8A-4147-A177-3AD203B41FA5}">
                      <a16:colId xmlns:a16="http://schemas.microsoft.com/office/drawing/2014/main" val="3520003199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991081534"/>
                    </a:ext>
                  </a:extLst>
                </a:gridCol>
                <a:gridCol w="1150620">
                  <a:extLst>
                    <a:ext uri="{9D8B030D-6E8A-4147-A177-3AD203B41FA5}">
                      <a16:colId xmlns:a16="http://schemas.microsoft.com/office/drawing/2014/main" val="297546574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365264529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6553676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8503174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86413554"/>
                    </a:ext>
                  </a:extLst>
                </a:gridCol>
                <a:gridCol w="1874518">
                  <a:extLst>
                    <a:ext uri="{9D8B030D-6E8A-4147-A177-3AD203B41FA5}">
                      <a16:colId xmlns:a16="http://schemas.microsoft.com/office/drawing/2014/main" val="4221028512"/>
                    </a:ext>
                  </a:extLst>
                </a:gridCol>
              </a:tblGrid>
              <a:tr h="802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 / 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elevance to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889565"/>
                  </a:ext>
                </a:extLst>
              </a:tr>
              <a:tr h="1156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Towards Robust Multimodal Emotion Recognition under Missing Modalities and Distribution Shifts (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CIDer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Wenhao Zhong, </a:t>
                      </a:r>
                      <a:r>
                        <a:rPr lang="en-US" sz="1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Weizhi</a:t>
                      </a: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Xue, Zhaohui Yan, et al. (2025)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Emotion Recognition (Text, Audio, Visual)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Causal Inference Distiller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CIDer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— combines causal reasoning, self-distillation, and attention-based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state-of-the-art accuracy (Macro-F1 ≈ 83%) on CMU-MOSEI; highly robust under missing modalities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complexity; lacks augmentation and low-resource emotion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paper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addresses robustness but leaves gaps in efficiency and data imbalance, which this project targets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317127"/>
                  </a:ext>
                </a:extLst>
              </a:tr>
              <a:tr h="1609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Adaptive Cross-Modal Fusion Network (TACFN)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Feng Liu, Ziyu Wang, Y. Zhao, et al. (2025, IEEE Transactions on Affective Computing)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Emotion Analysis (Audio, Visual, Text)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cross-modal attention with redundancy suppression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model (~0.4M parameters) with improved efficiency and performance; reduced redundant features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robustness testing; no data augmentation for minority classes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the lightweight and efficient fusion component of our framework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531340217"/>
                  </a:ext>
                </a:extLst>
              </a:tr>
              <a:tr h="1721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Modality</a:t>
                      </a:r>
                      <a:r>
                        <a:rPr lang="fr-FR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Augmentation and Interaction via Multimodal Dimension Transformation (</a:t>
                      </a:r>
                      <a:r>
                        <a:rPr lang="fr-FR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AIMDiT</a:t>
                      </a:r>
                      <a:r>
                        <a:rPr lang="fr-FR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Sheng Wu, Ming Chen, Y. Zhang, et al. (2024, Elsevier KBS)</a:t>
                      </a:r>
                      <a:endParaRPr lang="da-DK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Recognition in Conversations (Text, Audio, Visual)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Inception-based dimension transformation (1D→2D→1D) + Modality Augmentation Network (MAN)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interaction and augmentation between modalities; improved multimodal feature learning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only on MELD (dialogue-level data); not validated for missing modality robustness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for data augmentation and handling low-resource emotion categories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83897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37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B873-20D5-0A95-A1D0-7C74F803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CBE336-55E3-77F3-0976-3756B995F7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10" y="45879"/>
            <a:ext cx="10515600" cy="70392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714D5E8-001E-2CA0-D014-0ECC9F105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082" y="86706"/>
            <a:ext cx="813748" cy="7658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C3E43B-F3C2-B9C7-35CE-C8291BE1BC83}"/>
              </a:ext>
            </a:extLst>
          </p:cNvPr>
          <p:cNvSpPr txBox="1"/>
          <p:nvPr/>
        </p:nvSpPr>
        <p:spPr>
          <a:xfrm flipH="1">
            <a:off x="6162675" y="6488668"/>
            <a:ext cx="71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9E8FBD-EE35-0053-89EA-C3210BD59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122082"/>
              </p:ext>
            </p:extLst>
          </p:nvPr>
        </p:nvGraphicFramePr>
        <p:xfrm>
          <a:off x="0" y="861054"/>
          <a:ext cx="12192005" cy="563608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2321">
                  <a:extLst>
                    <a:ext uri="{9D8B030D-6E8A-4147-A177-3AD203B41FA5}">
                      <a16:colId xmlns:a16="http://schemas.microsoft.com/office/drawing/2014/main" val="3520003199"/>
                    </a:ext>
                  </a:extLst>
                </a:gridCol>
                <a:gridCol w="1742946">
                  <a:extLst>
                    <a:ext uri="{9D8B030D-6E8A-4147-A177-3AD203B41FA5}">
                      <a16:colId xmlns:a16="http://schemas.microsoft.com/office/drawing/2014/main" val="991081534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975465740"/>
                    </a:ext>
                  </a:extLst>
                </a:gridCol>
                <a:gridCol w="1413934">
                  <a:extLst>
                    <a:ext uri="{9D8B030D-6E8A-4147-A177-3AD203B41FA5}">
                      <a16:colId xmlns:a16="http://schemas.microsoft.com/office/drawing/2014/main" val="3652645291"/>
                    </a:ext>
                  </a:extLst>
                </a:gridCol>
                <a:gridCol w="1938866">
                  <a:extLst>
                    <a:ext uri="{9D8B030D-6E8A-4147-A177-3AD203B41FA5}">
                      <a16:colId xmlns:a16="http://schemas.microsoft.com/office/drawing/2014/main" val="2655367664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37850317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56156748"/>
                    </a:ext>
                  </a:extLst>
                </a:gridCol>
                <a:gridCol w="1955805">
                  <a:extLst>
                    <a:ext uri="{9D8B030D-6E8A-4147-A177-3AD203B41FA5}">
                      <a16:colId xmlns:a16="http://schemas.microsoft.com/office/drawing/2014/main" val="4221028512"/>
                    </a:ext>
                  </a:extLst>
                </a:gridCol>
              </a:tblGrid>
              <a:tr h="899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 / 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889565"/>
                  </a:ext>
                </a:extLst>
              </a:tr>
              <a:tr h="131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Multi-Label Multimodal Emotion Recognition with Transformer-Based Fusion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Duc H. Le, Son T. Truong, H. Nguyen (2023, IEEE Access)</a:t>
                      </a:r>
                      <a:endParaRPr lang="fr-FR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Multilabel Emotion Recognition (Text, Audio, Visual)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Label-aware transformer fusion using emotion-level embeddings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multi-label prediction; captures emotion co-occurrence effectively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expensive; limited generalization for unseen speakers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 for emotion-level representation learning and multi-emotion classification design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38443078"/>
                  </a:ext>
                </a:extLst>
              </a:tr>
              <a:tr h="134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MuMTAffect: A Multimodal Multitask Affective Framework for Personality and Emotion Recognition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Mohammad Jamshidi, Shiqi Gao, et al. (2025)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Affective Computing (Physiological Modalities)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multitask transformer (emotion + personality prediction)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joint learning improves overall generalization and stability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physiological data (GSR, pupil) — limited domain relevance for audiovisual data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reference for multitask modular transformer design and generalization ideas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236160172"/>
                  </a:ext>
                </a:extLst>
              </a:tr>
              <a:tr h="206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Expressions with Multimodal Transformers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Sarath Parthasarathy, Shiva Sundaram (2020, Amazon Lab 126)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Audio-Visual Emotion Recognition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Cross-modal attention transformer (2-modality)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arousal-valence estimation; robust to partial modality dropout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two modalities; lacks text and large-scale validation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robustness baseline showing benefits of transformer-based attention fusion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420234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6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89359-298D-5E34-A38C-266828A0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07B285-B85C-8420-4177-D5319132AE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10" y="45879"/>
            <a:ext cx="10515600" cy="70392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87BD7A-3D1D-C2C4-FAE1-E70B1B84C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082" y="86706"/>
            <a:ext cx="813748" cy="7658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75DB76-646C-B63C-35F0-43886E777AE1}"/>
              </a:ext>
            </a:extLst>
          </p:cNvPr>
          <p:cNvSpPr txBox="1"/>
          <p:nvPr/>
        </p:nvSpPr>
        <p:spPr>
          <a:xfrm flipH="1">
            <a:off x="6162675" y="6488668"/>
            <a:ext cx="71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8B7083-7E04-A780-3915-217397703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659125"/>
              </p:ext>
            </p:extLst>
          </p:nvPr>
        </p:nvGraphicFramePr>
        <p:xfrm>
          <a:off x="10510" y="899307"/>
          <a:ext cx="12192001" cy="56578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99090">
                  <a:extLst>
                    <a:ext uri="{9D8B030D-6E8A-4147-A177-3AD203B41FA5}">
                      <a16:colId xmlns:a16="http://schemas.microsoft.com/office/drawing/2014/main" val="3520003199"/>
                    </a:ext>
                  </a:extLst>
                </a:gridCol>
                <a:gridCol w="1500355">
                  <a:extLst>
                    <a:ext uri="{9D8B030D-6E8A-4147-A177-3AD203B41FA5}">
                      <a16:colId xmlns:a16="http://schemas.microsoft.com/office/drawing/2014/main" val="991081534"/>
                    </a:ext>
                  </a:extLst>
                </a:gridCol>
                <a:gridCol w="1336556">
                  <a:extLst>
                    <a:ext uri="{9D8B030D-6E8A-4147-A177-3AD203B41FA5}">
                      <a16:colId xmlns:a16="http://schemas.microsoft.com/office/drawing/2014/main" val="2975465740"/>
                    </a:ext>
                  </a:extLst>
                </a:gridCol>
                <a:gridCol w="1633489">
                  <a:extLst>
                    <a:ext uri="{9D8B030D-6E8A-4147-A177-3AD203B41FA5}">
                      <a16:colId xmlns:a16="http://schemas.microsoft.com/office/drawing/2014/main" val="3652645291"/>
                    </a:ext>
                  </a:extLst>
                </a:gridCol>
                <a:gridCol w="1490133">
                  <a:extLst>
                    <a:ext uri="{9D8B030D-6E8A-4147-A177-3AD203B41FA5}">
                      <a16:colId xmlns:a16="http://schemas.microsoft.com/office/drawing/2014/main" val="2655367664"/>
                    </a:ext>
                  </a:extLst>
                </a:gridCol>
                <a:gridCol w="1794934">
                  <a:extLst>
                    <a:ext uri="{9D8B030D-6E8A-4147-A177-3AD203B41FA5}">
                      <a16:colId xmlns:a16="http://schemas.microsoft.com/office/drawing/2014/main" val="3785031742"/>
                    </a:ext>
                  </a:extLst>
                </a:gridCol>
                <a:gridCol w="1710266">
                  <a:extLst>
                    <a:ext uri="{9D8B030D-6E8A-4147-A177-3AD203B41FA5}">
                      <a16:colId xmlns:a16="http://schemas.microsoft.com/office/drawing/2014/main" val="1036148562"/>
                    </a:ext>
                  </a:extLst>
                </a:gridCol>
                <a:gridCol w="2127178">
                  <a:extLst>
                    <a:ext uri="{9D8B030D-6E8A-4147-A177-3AD203B41FA5}">
                      <a16:colId xmlns:a16="http://schemas.microsoft.com/office/drawing/2014/main" val="4221028512"/>
                    </a:ext>
                  </a:extLst>
                </a:gridCol>
              </a:tblGrid>
              <a:tr h="57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S.no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Paper Title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Author(s) &amp; 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Domain / Focus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Technique / Approach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Advantages / Key Findings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Limitations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Relevance to Project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889565"/>
                  </a:ext>
                </a:extLst>
              </a:tr>
              <a:tr h="16725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Transformer Fusion for Continuous Emotion Recognition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Jian Huang, Meng Liu, et al. (2020, IEEE ICASSP)</a:t>
                      </a:r>
                      <a:endParaRPr lang="da-DK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Emotion Recognition (Regression)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v-SE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Transformer + LSTM fusion model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continuous valence/arousal modeling; improved temporal understanding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Outdated dataset (AVEC 2017); lacks tri-modal integration and noise handling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baseline for early multimodal transformer fusion strategies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38443078"/>
                  </a:ext>
                </a:extLst>
              </a:tr>
              <a:tr h="16725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Cross-Modal Transformer for Emotion-Aware Representation Learning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Hao Zhang, Rui Li, et al. (2024, AAAI/ArXiv)</a:t>
                      </a:r>
                      <a:endParaRPr lang="it-IT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Emotion Recognition (Text, Audio, Visual)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Cross-modal consistency transformer with adaptive temporal refinement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tri-modal fusion accuracy (~82% Weighted F1 on CMU-MOSEI); attention-based refinement improves robustness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model size (~250M parameters); lacks targeted augmentation for rare classes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complementary reference for cross-modal alignment and attention refinement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439701142"/>
                  </a:ext>
                </a:extLst>
              </a:tr>
              <a:tr h="16725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MISA: Modality-Invariant and Specific Representations for Multimodal Sentiment Analysis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Devamanyu Hazarika, Amir Zadeh, Soujanya Poria (2020, ACL)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Sentiment &amp; Emotion Analysis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Dual-space learning — separates modality-invariant and specific embeddings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interpretability and domain transfer; solid benchmark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training complexity; no handling of missing modalities or imbalance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Foundational baseline for representation-level learning, inspires modality separation in our design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4058522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82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173F-7CC5-7613-D358-EE2871A97B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6677" y="27501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103" y="239151"/>
            <a:ext cx="1204336" cy="11334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6057899" y="6388642"/>
            <a:ext cx="646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C06550-DCE7-7842-C2AA-7883B994D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77" y="1690003"/>
            <a:ext cx="105070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Emotion Recognition with Adaptive Fusion and Reliability-Aware Attention seeks to overcome the limitations of current multimodal emotion recognition systems - namely high computational overhead, vulnerability to missing modalities, and poor performance by developing a lightweight hybrid fusion transformer capable of efficient cross-modal learning, enhanced robustness, and improved generalization through adaptive attention mechanisms and targeted data augmentation.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815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5B2B3-0650-B420-0F89-0572E83B0A1E}"/>
              </a:ext>
            </a:extLst>
          </p:cNvPr>
          <p:cNvSpPr txBox="1"/>
          <p:nvPr/>
        </p:nvSpPr>
        <p:spPr>
          <a:xfrm>
            <a:off x="516358" y="654846"/>
            <a:ext cx="2457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22" y="278411"/>
            <a:ext cx="1188720" cy="1118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15300" y="6019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6153149" y="6389132"/>
            <a:ext cx="621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0537" y="1403152"/>
            <a:ext cx="113252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lightweight and robust multimodal transformer framework for accurate human emotion recognition across speech, facial, and textual modalities.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efficient hybrid fusion mechanism using adaptive attention and parameter sharing to reduce computational overhead without compromising model accuracy.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targeted Data Augmentation strategy to enhance performance on underrepresented emotion categories and improve cross-domain generalization.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proof-of-concept application to demonstrate the end-to-end workflow from multimodal feature extraction to real-time emotion prediction.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87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3D058-10AC-D7F2-255B-579BA95B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2F0B1-5732-631A-7BCB-EAFC73DBA020}"/>
              </a:ext>
            </a:extLst>
          </p:cNvPr>
          <p:cNvSpPr txBox="1"/>
          <p:nvPr/>
        </p:nvSpPr>
        <p:spPr>
          <a:xfrm>
            <a:off x="516358" y="654846"/>
            <a:ext cx="4561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2BA1C-7FC5-9CA8-6997-E71469B48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22" y="278411"/>
            <a:ext cx="1188720" cy="1118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5BD1FF-AE30-E1C3-5EB8-8440DA185B1C}"/>
              </a:ext>
            </a:extLst>
          </p:cNvPr>
          <p:cNvSpPr txBox="1"/>
          <p:nvPr/>
        </p:nvSpPr>
        <p:spPr>
          <a:xfrm>
            <a:off x="8115300" y="6019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C90DF-1C86-DCD3-26D3-9EEBEC6FC4C2}"/>
              </a:ext>
            </a:extLst>
          </p:cNvPr>
          <p:cNvSpPr txBox="1"/>
          <p:nvPr/>
        </p:nvSpPr>
        <p:spPr>
          <a:xfrm flipH="1">
            <a:off x="6153149" y="6389132"/>
            <a:ext cx="621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FB954-10D5-1546-9164-10F35927DDF1}"/>
              </a:ext>
            </a:extLst>
          </p:cNvPr>
          <p:cNvSpPr/>
          <p:nvPr/>
        </p:nvSpPr>
        <p:spPr>
          <a:xfrm>
            <a:off x="516358" y="1403152"/>
            <a:ext cx="113252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integration: combining textual, auditory, and visual modalities to achieve comprehensive emotion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architecture design: implementing parameter-efficient hybrid transformer models that reduce computational load and enable real-time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enhancement: incorporating modality reliability estimation and modality dropout techniques to handle noisy or missing data inputs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for low-resource emotions: applying targeted augmentation and class-balancing strategies to improve recognition of rare or underrepresented emotional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Cross-domain generalization: training and validating the system on multiple benchmark datasets to ensure scalability and adaptability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implementation: developing a proof-of-concept application that demonstrates end-to-end emotion recognition and visualization for applications in education, mental health monitoring, and human–AI interaction.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316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DB12-D484-A034-53C3-B122C2D0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0C563-8957-0203-F3B1-FCE5BF15D7D6}"/>
              </a:ext>
            </a:extLst>
          </p:cNvPr>
          <p:cNvSpPr txBox="1"/>
          <p:nvPr/>
        </p:nvSpPr>
        <p:spPr>
          <a:xfrm flipH="1">
            <a:off x="105104" y="369331"/>
            <a:ext cx="6201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diagram of a flowchart&#10;&#10;AI-generated content may be incorrect.">
            <a:extLst>
              <a:ext uri="{FF2B5EF4-FFF2-40B4-BE49-F238E27FC236}">
                <a16:creationId xmlns:a16="http://schemas.microsoft.com/office/drawing/2014/main" id="{ACEF9120-40CB-F78A-4B1D-317C52976D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693" y="961697"/>
            <a:ext cx="10665069" cy="552697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05BEC-F3D4-C15F-0154-EE2E6DFAF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22" y="278411"/>
            <a:ext cx="1237440" cy="1237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099EEA-1357-C7C1-83FE-985F8B1C6AE9}"/>
              </a:ext>
            </a:extLst>
          </p:cNvPr>
          <p:cNvSpPr txBox="1"/>
          <p:nvPr/>
        </p:nvSpPr>
        <p:spPr>
          <a:xfrm>
            <a:off x="6125228" y="6488668"/>
            <a:ext cx="769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019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A24B02-7010-409D-D39D-DD842A7CB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53" y="582236"/>
            <a:ext cx="9683847" cy="5978316"/>
          </a:xfrm>
          <a:prstGeom prst="rect">
            <a:avLst/>
          </a:prstGeom>
        </p:spPr>
      </p:pic>
      <p:sp>
        <p:nvSpPr>
          <p:cNvPr id="200" name="TextBox 10"/>
          <p:cNvSpPr/>
          <p:nvPr/>
        </p:nvSpPr>
        <p:spPr>
          <a:xfrm flipH="1">
            <a:off x="-2986217" y="137520"/>
            <a:ext cx="108741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</a:rPr>
              <a:t>Finalized ARCHITECTURE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Picture 7"/>
          <p:cNvPicPr/>
          <p:nvPr/>
        </p:nvPicPr>
        <p:blipFill>
          <a:blip r:embed="rId3"/>
          <a:stretch/>
        </p:blipFill>
        <p:spPr>
          <a:xfrm>
            <a:off x="9821880" y="186840"/>
            <a:ext cx="1236240" cy="1167120"/>
          </a:xfrm>
          <a:prstGeom prst="rect">
            <a:avLst/>
          </a:prstGeom>
          <a:ln w="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8B672B-0F95-0ABB-8A6D-2E682FE71B9F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extBox 156"/>
          <p:cNvSpPr/>
          <p:nvPr/>
        </p:nvSpPr>
        <p:spPr>
          <a:xfrm>
            <a:off x="1116000" y="110520"/>
            <a:ext cx="82796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800" b="1" strike="noStrike" spc="-1" dirty="0">
                <a:solidFill>
                  <a:schemeClr val="dk1"/>
                </a:solidFill>
                <a:latin typeface="Calibri"/>
              </a:rPr>
              <a:t>IMPLEMENTATION </a:t>
            </a:r>
            <a:r>
              <a:rPr lang="en-IN" sz="2800" b="1" spc="-1" dirty="0">
                <a:solidFill>
                  <a:schemeClr val="dk1"/>
                </a:solidFill>
                <a:latin typeface="Calibri"/>
              </a:rPr>
              <a:t>&amp; RESULTS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5" name="Picture 19"/>
          <p:cNvPicPr/>
          <p:nvPr/>
        </p:nvPicPr>
        <p:blipFill>
          <a:blip r:embed="rId3"/>
          <a:stretch/>
        </p:blipFill>
        <p:spPr>
          <a:xfrm>
            <a:off x="10679760" y="9288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658" name="TextBox 4"/>
          <p:cNvSpPr/>
          <p:nvPr/>
        </p:nvSpPr>
        <p:spPr>
          <a:xfrm>
            <a:off x="147960" y="1051200"/>
            <a:ext cx="5938200" cy="21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E44FA-2439-FF21-F54D-2D067CFB6B33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46FD3-1F8A-9290-C552-8F9E24C1AA03}"/>
              </a:ext>
            </a:extLst>
          </p:cNvPr>
          <p:cNvSpPr txBox="1"/>
          <p:nvPr/>
        </p:nvSpPr>
        <p:spPr>
          <a:xfrm>
            <a:off x="147960" y="643164"/>
            <a:ext cx="11806974" cy="688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DistilRoBERTa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(82 million parameters) for text analysis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Wav2Vec2 XLSR-300M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(317 million parameters) for audio analysis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Fused through a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attention mechanism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(6 million parameters)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system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405 million parameters, achieving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**87.6% F1 score**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IEMOCAP and MELD emotion datasets.“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A. Text Processing Pipeline</a:t>
            </a:r>
            <a:endParaRPr lang="en-US" dirty="0"/>
          </a:p>
          <a:p>
            <a:r>
              <a:rPr lang="en-US" dirty="0"/>
              <a:t>	Step 1: Tokenization</a:t>
            </a:r>
          </a:p>
          <a:p>
            <a:r>
              <a:rPr lang="en-US" dirty="0"/>
              <a:t>	Step 2: Embedding</a:t>
            </a:r>
          </a:p>
          <a:p>
            <a:r>
              <a:rPr lang="en-US" dirty="0"/>
              <a:t>	Step 3: Projection</a:t>
            </a:r>
          </a:p>
          <a:p>
            <a:r>
              <a:rPr lang="en-US" b="1" dirty="0"/>
              <a:t>B. Audio Processing Pipeline						</a:t>
            </a:r>
            <a:endParaRPr lang="en-US" dirty="0"/>
          </a:p>
          <a:p>
            <a:r>
              <a:rPr lang="en-US" dirty="0"/>
              <a:t>	Step 1: Audio Capture</a:t>
            </a:r>
            <a:br>
              <a:rPr lang="en-US" dirty="0"/>
            </a:br>
            <a:r>
              <a:rPr lang="en-US" dirty="0"/>
              <a:t>	Step 2: Feature Extraction</a:t>
            </a:r>
          </a:p>
          <a:p>
            <a:r>
              <a:rPr lang="en-US" dirty="0"/>
              <a:t>	Step 3: Projection</a:t>
            </a:r>
          </a:p>
          <a:p>
            <a:r>
              <a:rPr lang="en-US" b="1" dirty="0"/>
              <a:t>C. Attention-Based Fusion Mechanism</a:t>
            </a:r>
          </a:p>
          <a:p>
            <a:r>
              <a:rPr lang="en-US" b="1" dirty="0"/>
              <a:t>	</a:t>
            </a:r>
            <a:r>
              <a:rPr lang="en-US" dirty="0"/>
              <a:t>Unlike simple concatenation or averaging, attention learns which modality is more reliable for each input.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can be ambiguous ('I'm fine' - sarcasm?)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Audio can be noisy (background sound, poor mic)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weighting adapts to input quality</a:t>
            </a:r>
          </a:p>
          <a:p>
            <a:r>
              <a:rPr lang="en-US" b="1" dirty="0"/>
              <a:t>D. Classification Layer</a:t>
            </a:r>
            <a:endParaRPr lang="en-US" dirty="0"/>
          </a:p>
          <a:p>
            <a:r>
              <a:rPr lang="en-US" dirty="0"/>
              <a:t>probabilities = </a:t>
            </a:r>
            <a:r>
              <a:rPr lang="en-US" dirty="0" err="1"/>
              <a:t>softmax</a:t>
            </a:r>
            <a:r>
              <a:rPr lang="en-US" dirty="0"/>
              <a:t>(x)            # [</a:t>
            </a:r>
            <a:r>
              <a:rPr lang="en-US" dirty="0" err="1"/>
              <a:t>p_happiness</a:t>
            </a:r>
            <a:r>
              <a:rPr lang="en-US" dirty="0"/>
              <a:t>, </a:t>
            </a:r>
            <a:r>
              <a:rPr lang="en-US" dirty="0" err="1"/>
              <a:t>p_sadness</a:t>
            </a:r>
            <a:r>
              <a:rPr lang="en-US" dirty="0"/>
              <a:t>, </a:t>
            </a:r>
            <a:r>
              <a:rPr lang="en-US" dirty="0" err="1"/>
              <a:t>p_anger</a:t>
            </a:r>
            <a:r>
              <a:rPr lang="en-US" dirty="0"/>
              <a:t>]</a:t>
            </a:r>
          </a:p>
          <a:p>
            <a:r>
              <a:rPr lang="en-US" dirty="0"/>
              <a:t>prediction = argmax(probabilities)    # Highest probability emotion</a:t>
            </a:r>
          </a:p>
          <a:p>
            <a:endParaRPr lang="en-US" dirty="0"/>
          </a:p>
          <a:p>
            <a:endParaRPr lang="en-US" dirty="0"/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F4B7-957B-BADA-8A9B-B05C88009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Picture 19">
            <a:extLst>
              <a:ext uri="{FF2B5EF4-FFF2-40B4-BE49-F238E27FC236}">
                <a16:creationId xmlns:a16="http://schemas.microsoft.com/office/drawing/2014/main" id="{0B18FDF2-B12E-1438-ACB9-1850E0524B0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679760" y="9288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658" name="TextBox 4">
            <a:extLst>
              <a:ext uri="{FF2B5EF4-FFF2-40B4-BE49-F238E27FC236}">
                <a16:creationId xmlns:a16="http://schemas.microsoft.com/office/drawing/2014/main" id="{427C064D-E92F-D6E1-5E9D-5C9F8BC57A18}"/>
              </a:ext>
            </a:extLst>
          </p:cNvPr>
          <p:cNvSpPr/>
          <p:nvPr/>
        </p:nvSpPr>
        <p:spPr>
          <a:xfrm>
            <a:off x="147960" y="1051200"/>
            <a:ext cx="5938200" cy="21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82F008-1A41-2C01-C16E-F7F27982CC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5" y="168121"/>
            <a:ext cx="4856672" cy="33109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C573EB-E959-E1BB-CBC4-2CBAC11D5A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842" y="168121"/>
            <a:ext cx="4435155" cy="30468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37BED5-BF35-3BA6-F247-533FEB5F16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4" y="3648786"/>
            <a:ext cx="4856671" cy="2902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3777C2-16C8-2F1B-FEF8-0BA5C756D39B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E37C5C-D89D-5C45-7D36-D1C5131F4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71885"/>
              </p:ext>
            </p:extLst>
          </p:nvPr>
        </p:nvGraphicFramePr>
        <p:xfrm>
          <a:off x="5850467" y="3617393"/>
          <a:ext cx="5588000" cy="2468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33436296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31020108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70594897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701374439"/>
                    </a:ext>
                  </a:extLst>
                </a:gridCol>
              </a:tblGrid>
              <a:tr h="34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F1-Score (Macro)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F1-Score (Weighted)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328473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Validation Set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87.32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87.02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87.22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091589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Test Set (Best Model)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87.72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87.33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87.60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827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568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050" y="368065"/>
            <a:ext cx="1027780" cy="9673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404243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6248400" y="6400799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0549" y="1335388"/>
            <a:ext cx="1071562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an efficient and robust multimodal emotion recognition system that addresses the limitations of current transformer-based approaches, including high computational cost, sensitivity to noisy or missing modalities, and limited recognition of low-resource emotions.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lightweight hybrid fusion transformers with adaptive attention and modality reliability estimation, the framework ensures effective cross-modal learning and resilience in real-world environments.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inclusion of targeted data augmentation and class-balancing strategies further enhances the model’s ability to generalize across diverse datasets and emotion 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scalability and real-time performance, the proposed system can be extended to various domains such as digital education, mental health assessment, and human–AI interaction, paving the way for more empathetic, efficient, and context-aware intelligent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600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814F6-450D-85C9-AB78-F0ED5E35F938}"/>
              </a:ext>
            </a:extLst>
          </p:cNvPr>
          <p:cNvSpPr txBox="1"/>
          <p:nvPr/>
        </p:nvSpPr>
        <p:spPr>
          <a:xfrm>
            <a:off x="3474722" y="2413337"/>
            <a:ext cx="58329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408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12484</TotalTime>
  <Words>2243</Words>
  <Application>Microsoft Office PowerPoint</Application>
  <PresentationFormat>Widescreen</PresentationFormat>
  <Paragraphs>222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ABSTRACT</vt:lpstr>
      <vt:lpstr>INTRODUCTION</vt:lpstr>
      <vt:lpstr>MOTIVATION</vt:lpstr>
      <vt:lpstr>PowerPoint Presentation</vt:lpstr>
      <vt:lpstr>LITERATURE SURVEY</vt:lpstr>
      <vt:lpstr>LITERATURE SURVEY</vt:lpstr>
      <vt:lpstr>LITERATURE SURVEY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 USING DEEPLEARNING</dc:title>
  <dc:creator>mom dad deep ramya Sandeep kakunuri</dc:creator>
  <cp:lastModifiedBy>Sainath Ch</cp:lastModifiedBy>
  <cp:revision>54</cp:revision>
  <dcterms:created xsi:type="dcterms:W3CDTF">2024-11-19T15:14:10Z</dcterms:created>
  <dcterms:modified xsi:type="dcterms:W3CDTF">2026-02-07T07:10:48Z</dcterms:modified>
</cp:coreProperties>
</file>