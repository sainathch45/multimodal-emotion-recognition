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25"/>
  </p:notesMasterIdLst>
  <p:sldIdLst>
    <p:sldId id="282" r:id="rId2"/>
    <p:sldId id="279" r:id="rId3"/>
    <p:sldId id="257" r:id="rId4"/>
    <p:sldId id="261" r:id="rId5"/>
    <p:sldId id="262" r:id="rId6"/>
    <p:sldId id="278" r:id="rId7"/>
    <p:sldId id="277" r:id="rId8"/>
    <p:sldId id="276" r:id="rId9"/>
    <p:sldId id="265" r:id="rId10"/>
    <p:sldId id="266" r:id="rId11"/>
    <p:sldId id="280" r:id="rId12"/>
    <p:sldId id="288" r:id="rId13"/>
    <p:sldId id="273" r:id="rId14"/>
    <p:sldId id="274" r:id="rId15"/>
    <p:sldId id="275" r:id="rId16"/>
    <p:sldId id="292" r:id="rId17"/>
    <p:sldId id="293" r:id="rId18"/>
    <p:sldId id="294" r:id="rId19"/>
    <p:sldId id="295" r:id="rId20"/>
    <p:sldId id="296" r:id="rId21"/>
    <p:sldId id="297" r:id="rId22"/>
    <p:sldId id="267" r:id="rId23"/>
    <p:sldId id="26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88742BC-B97F-4C10-B134-4B1CFEB77357}">
          <p14:sldIdLst>
            <p14:sldId id="282"/>
            <p14:sldId id="279"/>
            <p14:sldId id="257"/>
            <p14:sldId id="261"/>
            <p14:sldId id="262"/>
            <p14:sldId id="278"/>
            <p14:sldId id="277"/>
            <p14:sldId id="276"/>
            <p14:sldId id="265"/>
            <p14:sldId id="266"/>
            <p14:sldId id="280"/>
            <p14:sldId id="288"/>
            <p14:sldId id="273"/>
            <p14:sldId id="274"/>
            <p14:sldId id="275"/>
            <p14:sldId id="292"/>
            <p14:sldId id="293"/>
            <p14:sldId id="294"/>
            <p14:sldId id="295"/>
            <p14:sldId id="296"/>
            <p14:sldId id="297"/>
            <p14:sldId id="267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0F65AD6-BADF-7891-C457-5E1E1E316F67}" name="Sainath Ch" initials="SC" userId="fd5cca9dc93f902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068" autoAdjust="0"/>
  </p:normalViewPr>
  <p:slideViewPr>
    <p:cSldViewPr snapToGrid="0">
      <p:cViewPr varScale="1">
        <p:scale>
          <a:sx n="90" d="100"/>
          <a:sy n="90" d="100"/>
        </p:scale>
        <p:origin x="13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798F0-95BF-4DB3-AFB1-EA6239836638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72182-68E7-433B-8DAD-E9D22D95140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6763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F8C22AF-75C7-433B-B852-69970FBFF62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427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72182-68E7-433B-8DAD-E9D22D95140E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71058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CC475-9845-F2D0-4EA3-7D61D15C4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60F58-DF46-1D61-94B1-A7AFF87EE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BE0DE-71E8-E1F3-D7E0-3951BFC9F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225D5-5B70-DEA9-8500-0181BEAEA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72182-68E7-433B-8DAD-E9D22D95140E}" type="slidenum">
              <a:rPr lang="en-IN" smtClean="0"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20237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9DDF5-17BB-0ABA-73C9-A1000D56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BC4096-129B-9033-E984-8958ED2C2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55CC1-DF60-42B6-7D38-6C340F458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E28149-4E6B-79C8-F2D2-46ADF5361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72182-68E7-433B-8DAD-E9D22D95140E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4120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E8E71-5890-8702-56E7-B8205A4F8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73926-A759-D51B-2456-CAA7D8378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9B2DA-6D3F-11A9-9DB6-F4FFBFF63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DF962-A040-C731-053A-62CD6EB04A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872182-68E7-433B-8DAD-E9D22D95140E}" type="slidenum">
              <a:rPr lang="en-IN" smtClean="0"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7157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69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920" cy="481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PlaceHolder 3"/>
          <p:cNvSpPr>
            <a:spLocks noGrp="1"/>
          </p:cNvSpPr>
          <p:nvPr>
            <p:ph type="sldNum" idx="18"/>
          </p:nvPr>
        </p:nvSpPr>
        <p:spPr>
          <a:xfrm>
            <a:off x="4278960" y="10157400"/>
            <a:ext cx="3279960" cy="53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85D6DA-CC5C-40C6-A9BA-5D7946E4DE7A}" type="slidenum">
              <a:rPr lang="en-GB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17</a:t>
            </a:fld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69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6920" cy="481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ldNum" idx="19"/>
          </p:nvPr>
        </p:nvSpPr>
        <p:spPr>
          <a:xfrm>
            <a:off x="4278960" y="10157400"/>
            <a:ext cx="3279960" cy="53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solidFill>
                  <a:srgbClr val="000000"/>
                </a:solidFill>
                <a:latin typeface="Times New Roman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3E5ACF-4E79-45BB-AD2D-3E042B542FFF}" type="slidenum">
              <a:rPr lang="en-GB" sz="14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18</a:t>
            </a:fld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70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PlaceHolder 3"/>
          <p:cNvSpPr>
            <a:spLocks noGrp="1"/>
          </p:cNvSpPr>
          <p:nvPr>
            <p:ph type="sldNum" idx="20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6F55D65-12B0-400F-ACD4-7D3E1C5297FE}" type="slidenum"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20</a:t>
            </a:fld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20B33-6186-9036-BCF7-794569AB9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>
            <a:extLst>
              <a:ext uri="{FF2B5EF4-FFF2-40B4-BE49-F238E27FC236}">
                <a16:creationId xmlns:a16="http://schemas.microsoft.com/office/drawing/2014/main" id="{24CA4708-3654-5D44-9EC0-B8FD64EFB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702" name="PlaceHolder 2">
            <a:extLst>
              <a:ext uri="{FF2B5EF4-FFF2-40B4-BE49-F238E27FC236}">
                <a16:creationId xmlns:a16="http://schemas.microsoft.com/office/drawing/2014/main" id="{0B7E4FF2-5C7F-4854-D5D0-EC75CCA2F5A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280" cy="481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PlaceHolder 3">
            <a:extLst>
              <a:ext uri="{FF2B5EF4-FFF2-40B4-BE49-F238E27FC236}">
                <a16:creationId xmlns:a16="http://schemas.microsoft.com/office/drawing/2014/main" id="{1A5B7CD1-CEB3-8225-35A2-C80838B078C8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4278960" y="10157400"/>
            <a:ext cx="3280320" cy="533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6F55D65-12B0-400F-ACD4-7D3E1C5297FE}" type="slidenum"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21</a:t>
            </a:fld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8978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5973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628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351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9296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2826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1777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325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3455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8223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8194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0044E-E001-4D12-9166-A5276B05859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27061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B2FCC-99C4-4C2B-99B4-9C5E13D53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0975" y="782122"/>
            <a:ext cx="3619500" cy="2492828"/>
          </a:xfrm>
        </p:spPr>
        <p:txBody>
          <a:bodyPr anchor="b"/>
          <a:lstStyle>
            <a:lvl1pPr algn="l">
              <a:spcBef>
                <a:spcPts val="960"/>
              </a:spcBef>
              <a:spcAft>
                <a:spcPts val="600"/>
              </a:spcAft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958888C-33C4-45BB-9053-0F238EBC25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4740" y="0"/>
            <a:ext cx="3754712" cy="2675444"/>
          </a:xfrm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B5F49914-A317-424F-9214-203370D767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49972" y="0"/>
            <a:ext cx="3793815" cy="2675444"/>
          </a:xfrm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Picture Placeholder 10">
            <a:extLst>
              <a:ext uri="{FF2B5EF4-FFF2-40B4-BE49-F238E27FC236}">
                <a16:creationId xmlns:a16="http://schemas.microsoft.com/office/drawing/2014/main" id="{B68EE34D-80C0-4CEE-99D1-3C91F6626DF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4740" y="2675444"/>
            <a:ext cx="7543904" cy="4182556"/>
          </a:xfrm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25E34894-A499-4CC3-9F3E-BB0B1268C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95" y="6000749"/>
            <a:ext cx="66728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F37D4A7-7BA4-4331-82C1-818D1B5B05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42275" y="3592286"/>
            <a:ext cx="3619500" cy="199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087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0044E-E001-4D12-9166-A5276B058590}" type="datetimeFigureOut">
              <a:rPr lang="en-IN" smtClean="0"/>
              <a:t>06-02-2026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BE9DCF-E7DC-484C-883E-D64D6710F07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8180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2D4FDF3-172C-8D9F-7BC0-E7F576DE44A9}"/>
              </a:ext>
            </a:extLst>
          </p:cNvPr>
          <p:cNvSpPr txBox="1"/>
          <p:nvPr/>
        </p:nvSpPr>
        <p:spPr>
          <a:xfrm>
            <a:off x="-7147" y="1773893"/>
            <a:ext cx="1219914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</a:t>
            </a:r>
            <a:r>
              <a:rPr kumimoji="0" lang="en-US" sz="1600" b="1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SCIENCE AND ENGINEERING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1" name="Table 4">
            <a:extLst>
              <a:ext uri="{FF2B5EF4-FFF2-40B4-BE49-F238E27FC236}">
                <a16:creationId xmlns:a16="http://schemas.microsoft.com/office/drawing/2014/main" id="{4CEE0AB1-CD0F-6B93-7342-4B5CB218B2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3687930"/>
              </p:ext>
            </p:extLst>
          </p:nvPr>
        </p:nvGraphicFramePr>
        <p:xfrm>
          <a:off x="2225284" y="3718643"/>
          <a:ext cx="7741431" cy="735182"/>
        </p:xfrm>
        <a:graphic>
          <a:graphicData uri="http://schemas.openxmlformats.org/drawingml/2006/table">
            <a:tbl>
              <a:tblPr firstRow="1">
                <a:tableStyleId>{BC89EF96-8CEA-46FF-86C4-4CE0E7609802}</a:tableStyleId>
              </a:tblPr>
              <a:tblGrid>
                <a:gridCol w="1303734">
                  <a:extLst>
                    <a:ext uri="{9D8B030D-6E8A-4147-A177-3AD203B41FA5}">
                      <a16:colId xmlns:a16="http://schemas.microsoft.com/office/drawing/2014/main" val="3909717689"/>
                    </a:ext>
                  </a:extLst>
                </a:gridCol>
                <a:gridCol w="3857220">
                  <a:extLst>
                    <a:ext uri="{9D8B030D-6E8A-4147-A177-3AD203B41FA5}">
                      <a16:colId xmlns:a16="http://schemas.microsoft.com/office/drawing/2014/main" val="1603189107"/>
                    </a:ext>
                  </a:extLst>
                </a:gridCol>
                <a:gridCol w="2580477">
                  <a:extLst>
                    <a:ext uri="{9D8B030D-6E8A-4147-A177-3AD203B41FA5}">
                      <a16:colId xmlns:a16="http://schemas.microsoft.com/office/drawing/2014/main" val="2755691855"/>
                    </a:ext>
                  </a:extLst>
                </a:gridCol>
              </a:tblGrid>
              <a:tr h="36759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1" i="0" dirty="0">
                          <a:solidFill>
                            <a:srgbClr val="09090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1" i="0" dirty="0">
                          <a:solidFill>
                            <a:srgbClr val="09090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>
                    <a:lnL w="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0" cmpd="sng">
                      <a:noFill/>
                    </a:lnT>
                    <a:lnB w="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1" i="0" dirty="0">
                          <a:solidFill>
                            <a:srgbClr val="09090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9928716"/>
                  </a:ext>
                </a:extLst>
              </a:tr>
              <a:tr h="36759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b="0" i="0" dirty="0">
                          <a:solidFill>
                            <a:srgbClr val="09090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 cmpd="sng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1800" b="0" i="0" dirty="0">
                          <a:solidFill>
                            <a:srgbClr val="09090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US" sz="1800" b="0" i="0" dirty="0">
                          <a:solidFill>
                            <a:srgbClr val="09090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 S Sainath Chakravadhanula</a:t>
                      </a:r>
                      <a:endParaRPr lang="en-US" b="0" i="0" dirty="0">
                        <a:solidFill>
                          <a:srgbClr val="090909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 cmpd="sng">
                      <a:noFill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0" i="0" dirty="0">
                          <a:solidFill>
                            <a:srgbClr val="090909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160722733010</a:t>
                      </a:r>
                      <a:endParaRPr lang="en-US" dirty="0">
                        <a:solidFill>
                          <a:srgbClr val="090909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0208656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54AB54B-DDEA-4FDC-739E-F6D48896512B}"/>
              </a:ext>
            </a:extLst>
          </p:cNvPr>
          <p:cNvSpPr txBox="1"/>
          <p:nvPr/>
        </p:nvSpPr>
        <p:spPr>
          <a:xfrm>
            <a:off x="270313" y="5691485"/>
            <a:ext cx="3672247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Under the Guidance of</a:t>
            </a:r>
          </a:p>
          <a:p>
            <a:pPr lvl="0" algn="ctr" defTabSz="914400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Mujthaba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Gulam </a:t>
            </a:r>
            <a:r>
              <a:rPr lang="en-US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Muqeeth</a:t>
            </a: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ctr" defTabSz="914400">
              <a:defRPr/>
            </a:pPr>
            <a:r>
              <a:rPr lang="en-US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Assoc. Prof, Dept. of CSE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761D0B-7026-AE59-FDDE-4E78EDA4F127}"/>
              </a:ext>
            </a:extLst>
          </p:cNvPr>
          <p:cNvSpPr txBox="1"/>
          <p:nvPr/>
        </p:nvSpPr>
        <p:spPr>
          <a:xfrm>
            <a:off x="8569957" y="5691485"/>
            <a:ext cx="330939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Coordinator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Mr.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Mujthaba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Gulam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Muqeeth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Assoc. Prof, Dept. of CSE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6A3EE5-A353-D5A6-711D-3DB96ACA8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38139" y="129566"/>
            <a:ext cx="10115722" cy="1365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F7ADE45-5B87-564D-105C-2A72B8D71717}"/>
              </a:ext>
            </a:extLst>
          </p:cNvPr>
          <p:cNvSpPr txBox="1">
            <a:spLocks/>
          </p:cNvSpPr>
          <p:nvPr/>
        </p:nvSpPr>
        <p:spPr>
          <a:xfrm>
            <a:off x="270313" y="2094565"/>
            <a:ext cx="11388287" cy="1524177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ts val="960"/>
              </a:spcBef>
              <a:spcAft>
                <a:spcPts val="600"/>
              </a:spcAft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0" algn="ctr">
              <a:defRPr/>
            </a:pPr>
            <a:r>
              <a:rPr lang="en-US" sz="3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 Emotion Recognition with Adaptive Fusion and Reliability-Aware Attention using Lightweight Transformer Architectures</a:t>
            </a:r>
            <a:endParaRPr kumimoji="0" lang="en-IN" sz="3000" b="1" i="0" u="none" strike="noStrike" kern="1200" cap="none" spc="0" normalizeH="0" baseline="0" noProof="0" dirty="0">
              <a:ln>
                <a:solidFill>
                  <a:prstClr val="white">
                    <a:lumMod val="75000"/>
                    <a:lumOff val="25000"/>
                    <a:alpha val="10000"/>
                  </a:prstClr>
                </a:solidFill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F81F46-2E8D-F76B-0DA8-71ED3ACD0E9C}"/>
              </a:ext>
            </a:extLst>
          </p:cNvPr>
          <p:cNvSpPr txBox="1"/>
          <p:nvPr/>
        </p:nvSpPr>
        <p:spPr>
          <a:xfrm>
            <a:off x="5152104" y="5842337"/>
            <a:ext cx="188064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Batch No 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25-H8CS21A01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899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99E18-4842-03F3-2F6E-235D995DA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348B7A-6C1B-F0DB-702A-5811449B9D2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0375" y="533400"/>
            <a:ext cx="2887663" cy="910441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A6D59A-6EB6-3E48-5CB1-7A3CFD97AABF}"/>
              </a:ext>
            </a:extLst>
          </p:cNvPr>
          <p:cNvSpPr txBox="1"/>
          <p:nvPr/>
        </p:nvSpPr>
        <p:spPr>
          <a:xfrm>
            <a:off x="600375" y="1443841"/>
            <a:ext cx="1099124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emotions are expressed through a complex combination of speech, verbal cues, and language, making their automated recognition a challenging multimodal problem. Existing transformer-based emotion recognition systems achieve high accuracy but often suffer from heavy computational requirements, vulnerability to noisy or missing modalities, and poor generalization to underrepresented emotion classes. This project proposes a hybrid transformer framework that achieves lightweight cross-modal fusion and enhanced robustness through adaptive attention mechanisms and reliability-aware feature weighting. To further address class imbalance, the model incorporates targeted data augmentation strategies for low-resource emotion categories, improving diversity and stability in training. The system will be evaluated on benchmark datasets such as CMU-MOSEI and IEMOCAP, comparing efficiency, robustness, and accuracy against existing multimodal transformers. The outcome aims to deliver a resource-efficient, noise-tolerant, and generalizable approach to multimodal emotion understanding-pushing toward practical, real-world deployment in affective computing and human-AI interaction systems.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56007B-3268-DF59-37C6-834E009C52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053" y="199609"/>
            <a:ext cx="1178210" cy="11089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078AC3-8A17-6812-9F8D-DA4D7DB0AC1C}"/>
              </a:ext>
            </a:extLst>
          </p:cNvPr>
          <p:cNvSpPr txBox="1"/>
          <p:nvPr/>
        </p:nvSpPr>
        <p:spPr>
          <a:xfrm flipH="1">
            <a:off x="6191250" y="6492634"/>
            <a:ext cx="674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0232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119CB-EBE0-24E1-9C1F-064624A87AD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65760" y="1531001"/>
            <a:ext cx="11504507" cy="392826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will aim to develop an intelligent multimodal framework for recognizing human emotions by integrating information from speech, facial expressions, and textual cues.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leverage fusion transformer architectures to learn deep cross-modal relationships that enable the model to interpret complex emotional states more accurately and contextually.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will incorporate lightweight attention mechanisms and modality reliability estimation to ensure computational efficiency and robustness against noisy or missing inputs.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enhance performance on underrepresented emotions, the framework will include targeted data augmentation techniques that improve generalization across diverse and low-resource categories.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proof-of-concept application will demonstrate the end-to-end workflow—from multimodal feature extraction to real-time emotion prediction—highlighting potential use cases in human–AI interaction, mental health analysis, and adaptive learning environments.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will establish a modular and scalable foundation for future extensions in affective computing, enabling more empathetic, reliable, and human-centered AI systems.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226B13-AE53-8D76-3034-7A665B82FF4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5760" y="167946"/>
            <a:ext cx="10515600" cy="1085385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0" y="252621"/>
            <a:ext cx="1160080" cy="10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 flipH="1">
            <a:off x="6229349" y="6419126"/>
            <a:ext cx="785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4558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1EBA8D-AB89-FA73-1721-2356C6BB542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00375" y="118278"/>
            <a:ext cx="2887663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746FC1-C0E4-4970-E57A-AFF5E983A09C}"/>
              </a:ext>
            </a:extLst>
          </p:cNvPr>
          <p:cNvSpPr txBox="1"/>
          <p:nvPr/>
        </p:nvSpPr>
        <p:spPr>
          <a:xfrm>
            <a:off x="600376" y="1338421"/>
            <a:ext cx="1099124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ability to understand human emotions accurately is central to improving human-computer interaction, mental health analysis, and social robotics. However, existing emotion recognition systems often rely on a single modality such as text or speech, which limits their contextual understanding.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real-world conditions, emotional cues appear across multiple channels - voice tone, facial expression, and linguistic content - and may be noisy, incomplete, or contradictory. Current models struggle to integrate these signals effectively, leading to inconsistent or biased interpretations.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multimodal approaches have shown strong performance, but they are often computationally heavy and sensitive to missing or corrupted data, making them unsuitable for real-time or edge deployment.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Moreover, emotion datasets are typically imbalanced, with rare emotions like disgust, surprise, or fear underrepresented, resulting in poor generalization and skewed performance.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project aims to overcome these limitations by developing a lightweight, robust fusion transformer framework that can handle noisy or missing modalities and improve recognition accuracy for low-resource emotion categories through targeted data augmentation.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053" y="199609"/>
            <a:ext cx="1178210" cy="110890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flipH="1">
            <a:off x="6191250" y="6492634"/>
            <a:ext cx="6743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021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494015" y="571665"/>
            <a:ext cx="4704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DATA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 flipH="1">
            <a:off x="1832475" y="2753709"/>
            <a:ext cx="8026228" cy="45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 rot="10800000" flipV="1">
            <a:off x="494015" y="3435076"/>
            <a:ext cx="11851990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7304" y="186017"/>
            <a:ext cx="1188720" cy="11187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 flipH="1">
            <a:off x="6178964" y="6488668"/>
            <a:ext cx="6496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94015" y="1309159"/>
            <a:ext cx="1126936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in Affective Computing indicate that over 70% of human communication is non-verbal, conveyed through tone, facial expression, and body language, while text alone captures less than 10% of emotional intent. This underscores the importance of multimodal analysis in emotion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a 2023 Gartner AI report, nearly 58% of human-AI interaction systems fail to interpret user emotions accurately, leading to poor user satisfaction and engagement.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World Health Organization (WHO) estimates that one in eight people globally live with a mental health condition. AI-assisted emotional analysis tools have shown potential to support early stress or depression detection.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imbalance continues to hinder progress in emotion recognition - public datasets like CMU-MOSEI and IEMOCAP show that minority emotions (such as disgust, fear, or surprise) appear in less than 8-10% of total samples, causing biased model learning and weak generalization.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inefficiency is a major bottleneck in deploying multimodal transformer models: a 2024 benchmark study found that average inference latency for large fusion models exceeds 500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input, making them impractical for real-time or mobile deployment.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88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A06B7-772E-EA8E-2BA0-CBA285B91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3B5411B-FB23-34C5-FAB2-A96743581E5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510" y="45879"/>
            <a:ext cx="10515600" cy="703929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BE86D13-3F7B-BD7D-F054-914F2BDBCA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1082" y="86706"/>
            <a:ext cx="813748" cy="7658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EDBBFB-39C0-6502-0BE3-986FD2797E71}"/>
              </a:ext>
            </a:extLst>
          </p:cNvPr>
          <p:cNvSpPr txBox="1"/>
          <p:nvPr/>
        </p:nvSpPr>
        <p:spPr>
          <a:xfrm flipH="1">
            <a:off x="6162675" y="6488668"/>
            <a:ext cx="713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5E60D86-EFEF-2DB9-0F77-43CBBEC6A2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317794"/>
              </p:ext>
            </p:extLst>
          </p:nvPr>
        </p:nvGraphicFramePr>
        <p:xfrm>
          <a:off x="10510" y="880800"/>
          <a:ext cx="12181488" cy="550508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21950">
                  <a:extLst>
                    <a:ext uri="{9D8B030D-6E8A-4147-A177-3AD203B41FA5}">
                      <a16:colId xmlns:a16="http://schemas.microsoft.com/office/drawing/2014/main" val="3520003199"/>
                    </a:ext>
                  </a:extLst>
                </a:gridCol>
                <a:gridCol w="1897380">
                  <a:extLst>
                    <a:ext uri="{9D8B030D-6E8A-4147-A177-3AD203B41FA5}">
                      <a16:colId xmlns:a16="http://schemas.microsoft.com/office/drawing/2014/main" val="991081534"/>
                    </a:ext>
                  </a:extLst>
                </a:gridCol>
                <a:gridCol w="1150620">
                  <a:extLst>
                    <a:ext uri="{9D8B030D-6E8A-4147-A177-3AD203B41FA5}">
                      <a16:colId xmlns:a16="http://schemas.microsoft.com/office/drawing/2014/main" val="2975465740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365264529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65536766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85031742"/>
                    </a:ext>
                  </a:extLst>
                </a:gridCol>
                <a:gridCol w="1577340">
                  <a:extLst>
                    <a:ext uri="{9D8B030D-6E8A-4147-A177-3AD203B41FA5}">
                      <a16:colId xmlns:a16="http://schemas.microsoft.com/office/drawing/2014/main" val="286413554"/>
                    </a:ext>
                  </a:extLst>
                </a:gridCol>
                <a:gridCol w="1874518">
                  <a:extLst>
                    <a:ext uri="{9D8B030D-6E8A-4147-A177-3AD203B41FA5}">
                      <a16:colId xmlns:a16="http://schemas.microsoft.com/office/drawing/2014/main" val="4221028512"/>
                    </a:ext>
                  </a:extLst>
                </a:gridCol>
              </a:tblGrid>
              <a:tr h="8022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 /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/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 / Key 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elevance to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889565"/>
                  </a:ext>
                </a:extLst>
              </a:tr>
              <a:tr h="1156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Towards Robust Multimodal Emotion Recognition under Missing Modalities and Distribution Shifts (</a:t>
                      </a:r>
                      <a:r>
                        <a:rPr lang="en-US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CIDer</a:t>
                      </a: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Wenhao Zhong, </a:t>
                      </a:r>
                      <a:r>
                        <a:rPr lang="en-US" sz="14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Weizhi</a:t>
                      </a:r>
                      <a:r>
                        <a:rPr lang="en-US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Xue, Zhaohui Yan, et al. (2025)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Emotion Recognition (Text, Audio, Visual)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Causal Inference Distiller (</a:t>
                      </a:r>
                      <a:r>
                        <a:rPr lang="en-US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CIDer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— combines causal reasoning, self-distillation, and attention-based fusion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state-of-the-art accuracy (Macro-F1 ≈ 83%) on CMU-MOSEI; highly robust under missing modalities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complexity; lacks augmentation and low-resource emotion handling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paper</a:t>
                      </a: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— addresses robustness but leaves gaps in efficiency and data imbalance, which this project targets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317127"/>
                  </a:ext>
                </a:extLst>
              </a:tr>
              <a:tr h="1609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Transformer-Based Adaptive Cross-Modal Fusion Network (TACFN)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Feng Liu, Ziyu Wang, Y. Zhao, et al. (2025, IEEE Transactions on Affective Computing)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Emotion Analysis (Audio, Visual, Text)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cross-modal attention with redundancy suppression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Lightweight model (~0.4M parameters) with improved efficiency and performance; reduced redundant features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robustness testing; no data augmentation for minority classes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the lightweight and efficient fusion component of our framework</a:t>
                      </a:r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3531340217"/>
                  </a:ext>
                </a:extLst>
              </a:tr>
              <a:tr h="17217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Modality</a:t>
                      </a:r>
                      <a:r>
                        <a:rPr lang="fr-FR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Augmentation and Interaction via Multimodal Dimension Transformation (</a:t>
                      </a:r>
                      <a:r>
                        <a:rPr lang="fr-FR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AIMDiT</a:t>
                      </a:r>
                      <a:r>
                        <a:rPr lang="fr-FR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14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Sheng Wu, Ming Chen, Y. Zhang, et al. (2024, Elsevier KBS)</a:t>
                      </a:r>
                      <a:endParaRPr lang="da-DK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Emotion Recognition in Conversations (Text, Audio, Visual)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Inception-based dimension transformation (1D→2D→1D) + Modality Augmentation Network (MAN)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interaction and augmentation between modalities; improved multimodal feature learning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Tested only on MELD (dialogue-level data); not validated for missing modality robustness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 for data augmentation and handling low-resource emotion categories</a:t>
                      </a:r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383897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2377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8B873-20D5-0A95-A1D0-7C74F8033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BCBE336-55E3-77F3-0976-3756B995F7C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510" y="45879"/>
            <a:ext cx="10515600" cy="703929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714D5E8-001E-2CA0-D014-0ECC9F105A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1082" y="86706"/>
            <a:ext cx="813748" cy="7658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C3E43B-F3C2-B9C7-35CE-C8291BE1BC83}"/>
              </a:ext>
            </a:extLst>
          </p:cNvPr>
          <p:cNvSpPr txBox="1"/>
          <p:nvPr/>
        </p:nvSpPr>
        <p:spPr>
          <a:xfrm flipH="1">
            <a:off x="6162675" y="6488668"/>
            <a:ext cx="713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9E8FBD-EE35-0053-89EA-C3210BD59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122082"/>
              </p:ext>
            </p:extLst>
          </p:nvPr>
        </p:nvGraphicFramePr>
        <p:xfrm>
          <a:off x="0" y="861054"/>
          <a:ext cx="12192005" cy="563608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02321">
                  <a:extLst>
                    <a:ext uri="{9D8B030D-6E8A-4147-A177-3AD203B41FA5}">
                      <a16:colId xmlns:a16="http://schemas.microsoft.com/office/drawing/2014/main" val="3520003199"/>
                    </a:ext>
                  </a:extLst>
                </a:gridCol>
                <a:gridCol w="1742946">
                  <a:extLst>
                    <a:ext uri="{9D8B030D-6E8A-4147-A177-3AD203B41FA5}">
                      <a16:colId xmlns:a16="http://schemas.microsoft.com/office/drawing/2014/main" val="991081534"/>
                    </a:ext>
                  </a:extLst>
                </a:gridCol>
                <a:gridCol w="1176866">
                  <a:extLst>
                    <a:ext uri="{9D8B030D-6E8A-4147-A177-3AD203B41FA5}">
                      <a16:colId xmlns:a16="http://schemas.microsoft.com/office/drawing/2014/main" val="2975465740"/>
                    </a:ext>
                  </a:extLst>
                </a:gridCol>
                <a:gridCol w="1413934">
                  <a:extLst>
                    <a:ext uri="{9D8B030D-6E8A-4147-A177-3AD203B41FA5}">
                      <a16:colId xmlns:a16="http://schemas.microsoft.com/office/drawing/2014/main" val="3652645291"/>
                    </a:ext>
                  </a:extLst>
                </a:gridCol>
                <a:gridCol w="1938866">
                  <a:extLst>
                    <a:ext uri="{9D8B030D-6E8A-4147-A177-3AD203B41FA5}">
                      <a16:colId xmlns:a16="http://schemas.microsoft.com/office/drawing/2014/main" val="2655367664"/>
                    </a:ext>
                  </a:extLst>
                </a:gridCol>
                <a:gridCol w="1735667">
                  <a:extLst>
                    <a:ext uri="{9D8B030D-6E8A-4147-A177-3AD203B41FA5}">
                      <a16:colId xmlns:a16="http://schemas.microsoft.com/office/drawing/2014/main" val="378503174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556156748"/>
                    </a:ext>
                  </a:extLst>
                </a:gridCol>
                <a:gridCol w="1955805">
                  <a:extLst>
                    <a:ext uri="{9D8B030D-6E8A-4147-A177-3AD203B41FA5}">
                      <a16:colId xmlns:a16="http://schemas.microsoft.com/office/drawing/2014/main" val="4221028512"/>
                    </a:ext>
                  </a:extLst>
                </a:gridCol>
              </a:tblGrid>
              <a:tr h="8992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Domain /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/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Advantages / Key 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889565"/>
                  </a:ext>
                </a:extLst>
              </a:tr>
              <a:tr h="1319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Multi-Label Multimodal Emotion Recognition with Transformer-Based Fusion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Duc H. Le, Son T. Truong, H. Nguyen (2023, IEEE Access)</a:t>
                      </a:r>
                      <a:endParaRPr lang="fr-FR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Multilabel Emotion Recognition (Text, Audio, Visual)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Label-aware transformer fusion using emotion-level embeddings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multi-label prediction; captures emotion co-occurrence effectively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expensive; limited generalization for unseen speakers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Basis for emotion-level representation learning and multi-emotion classification design</a:t>
                      </a:r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338443078"/>
                  </a:ext>
                </a:extLst>
              </a:tr>
              <a:tr h="1348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MuMTAffect: A Multimodal Multitask Affective Framework for Personality and Emotion Recognition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Mohammad Jamshidi, Shiqi Gao, et al. (2025)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Affective Computing (Physiological Modalities)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multitask transformer (emotion + personality prediction)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Demonstrated joint learning improves overall generalization and stability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physiological data (GSR, pupil) — limited domain relevance for audiovisual data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Conceptual reference for multitask modular transformer design and generalization ideas</a:t>
                      </a:r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236160172"/>
                  </a:ext>
                </a:extLst>
              </a:tr>
              <a:tr h="20681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Detecting Expressions with Multimodal Transformers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Sarath Parthasarathy, Shiva Sundaram (2020, Amazon Lab 126)</a:t>
                      </a:r>
                      <a:endParaRPr lang="en-US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Audio-Visual Emotion Recognition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Cross-modal attention transformer (2-modality)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arousal-valence estimation; robust to partial modality dropout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two modalities; lacks text and large-scale validation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robustness baseline showing benefits of transformer-based attention fusion</a:t>
                      </a:r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4202349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168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89359-298D-5E34-A38C-266828A0E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007B285-B85C-8420-4177-D5319132AE6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510" y="45879"/>
            <a:ext cx="10515600" cy="703929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887BD7A-3D1D-C2C4-FAE1-E70B1B84C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1082" y="86706"/>
            <a:ext cx="813748" cy="7658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75DB76-646C-B63C-35F0-43886E777AE1}"/>
              </a:ext>
            </a:extLst>
          </p:cNvPr>
          <p:cNvSpPr txBox="1"/>
          <p:nvPr/>
        </p:nvSpPr>
        <p:spPr>
          <a:xfrm flipH="1">
            <a:off x="6162675" y="6488668"/>
            <a:ext cx="7134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28B7083-7E04-A780-3915-2173977038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659125"/>
              </p:ext>
            </p:extLst>
          </p:nvPr>
        </p:nvGraphicFramePr>
        <p:xfrm>
          <a:off x="10510" y="899307"/>
          <a:ext cx="12192001" cy="565781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99090">
                  <a:extLst>
                    <a:ext uri="{9D8B030D-6E8A-4147-A177-3AD203B41FA5}">
                      <a16:colId xmlns:a16="http://schemas.microsoft.com/office/drawing/2014/main" val="3520003199"/>
                    </a:ext>
                  </a:extLst>
                </a:gridCol>
                <a:gridCol w="1500355">
                  <a:extLst>
                    <a:ext uri="{9D8B030D-6E8A-4147-A177-3AD203B41FA5}">
                      <a16:colId xmlns:a16="http://schemas.microsoft.com/office/drawing/2014/main" val="991081534"/>
                    </a:ext>
                  </a:extLst>
                </a:gridCol>
                <a:gridCol w="1336556">
                  <a:extLst>
                    <a:ext uri="{9D8B030D-6E8A-4147-A177-3AD203B41FA5}">
                      <a16:colId xmlns:a16="http://schemas.microsoft.com/office/drawing/2014/main" val="2975465740"/>
                    </a:ext>
                  </a:extLst>
                </a:gridCol>
                <a:gridCol w="1633489">
                  <a:extLst>
                    <a:ext uri="{9D8B030D-6E8A-4147-A177-3AD203B41FA5}">
                      <a16:colId xmlns:a16="http://schemas.microsoft.com/office/drawing/2014/main" val="3652645291"/>
                    </a:ext>
                  </a:extLst>
                </a:gridCol>
                <a:gridCol w="1490133">
                  <a:extLst>
                    <a:ext uri="{9D8B030D-6E8A-4147-A177-3AD203B41FA5}">
                      <a16:colId xmlns:a16="http://schemas.microsoft.com/office/drawing/2014/main" val="2655367664"/>
                    </a:ext>
                  </a:extLst>
                </a:gridCol>
                <a:gridCol w="1794934">
                  <a:extLst>
                    <a:ext uri="{9D8B030D-6E8A-4147-A177-3AD203B41FA5}">
                      <a16:colId xmlns:a16="http://schemas.microsoft.com/office/drawing/2014/main" val="3785031742"/>
                    </a:ext>
                  </a:extLst>
                </a:gridCol>
                <a:gridCol w="1710266">
                  <a:extLst>
                    <a:ext uri="{9D8B030D-6E8A-4147-A177-3AD203B41FA5}">
                      <a16:colId xmlns:a16="http://schemas.microsoft.com/office/drawing/2014/main" val="1036148562"/>
                    </a:ext>
                  </a:extLst>
                </a:gridCol>
                <a:gridCol w="2127178">
                  <a:extLst>
                    <a:ext uri="{9D8B030D-6E8A-4147-A177-3AD203B41FA5}">
                      <a16:colId xmlns:a16="http://schemas.microsoft.com/office/drawing/2014/main" val="4221028512"/>
                    </a:ext>
                  </a:extLst>
                </a:gridCol>
              </a:tblGrid>
              <a:tr h="571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S.no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Paper Title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Author(s) &amp; Year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Domain / Focus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Technique / Approach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Advantages / Key Findings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Limitations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Relevance to Project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889565"/>
                  </a:ext>
                </a:extLst>
              </a:tr>
              <a:tr h="16725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Transformer Fusion for Continuous Emotion Recognition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da-DK" sz="1400" b="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Jian Huang, Meng Liu, et al. (2020, IEEE ICASSP)</a:t>
                      </a:r>
                      <a:endParaRPr lang="da-DK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Emotion Recognition (Regression)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sv-SE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Transformer + LSTM fusion model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continuous valence/arousal modeling; improved temporal understanding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Outdated dataset (AVEC 2017); lacks tri-modal integration and noise handling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Historical baseline for early multimodal transformer fusion strategies</a:t>
                      </a:r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338443078"/>
                  </a:ext>
                </a:extLst>
              </a:tr>
              <a:tr h="16725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Cross-Modal Transformer for Emotion-Aware Representation Learning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4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Hao Zhang, Rui Li, et al. (2024, AAAI/ArXiv)</a:t>
                      </a:r>
                      <a:endParaRPr lang="it-IT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Emotion Recognition (Text, Audio, Visual)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Cross-modal consistency transformer with adaptive temporal refinement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tri-modal fusion accuracy (~82% Weighted F1 on CMU-MOSEI); attention-based refinement improves robustness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model size (~250M parameters); lacks targeted augmentation for rare classes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Recent complementary reference for cross-modal alignment and attention refinement</a:t>
                      </a:r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439701142"/>
                  </a:ext>
                </a:extLst>
              </a:tr>
              <a:tr h="16725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MISA: Modality-Invariant and Specific Representations for Multimodal Sentiment Analysis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Devamanyu Hazarika, Amir Zadeh, Soujanya Poria (2020, ACL)</a:t>
                      </a:r>
                      <a:endParaRPr lang="en-US" sz="1400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Multimodal Sentiment &amp; Emotion Analysis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Dual-space learning — separates modality-invariant and specific embeddings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interpretability and domain transfer; solid benchmark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training complexity; no handling of missing modalities or imbalance</a:t>
                      </a:r>
                    </a:p>
                  </a:txBody>
                  <a:tcPr marL="13902" marR="13902" marT="6951" marB="695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Foundational baseline for representation-level learning, inspires modality separation in our design</a:t>
                      </a:r>
                    </a:p>
                  </a:txBody>
                  <a:tcPr marL="13902" marR="13902" marT="6951" marB="6951" anchor="ctr"/>
                </a:tc>
                <a:extLst>
                  <a:ext uri="{0D108BD9-81ED-4DB2-BD59-A6C34878D82A}">
                    <a16:rowId xmlns:a16="http://schemas.microsoft.com/office/drawing/2014/main" val="4058522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826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7173F-7CC5-7613-D358-EE2871A97BC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6677" y="275010"/>
            <a:ext cx="10515600" cy="1325563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1103" y="239151"/>
            <a:ext cx="1204336" cy="11334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flipH="1">
            <a:off x="6057899" y="6388642"/>
            <a:ext cx="6467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EC06550-DCE7-7842-C2AA-7883B994D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677" y="1690003"/>
            <a:ext cx="1050707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Emotion Recognition with Adaptive Fusion and Reliability-Aware Attention seeks to overcome the limitations of current multimodal emotion recognition systems - namely high computational overhead, vulnerability to missing modalities, and poor performance by developing a lightweight hybrid fusion transformer capable of efficient cross-modal learning, enhanced robustness, and improved generalization through adaptive attention mechanisms and targeted data augmentation.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815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35B2B3-0650-B420-0F89-0572E83B0A1E}"/>
              </a:ext>
            </a:extLst>
          </p:cNvPr>
          <p:cNvSpPr txBox="1"/>
          <p:nvPr/>
        </p:nvSpPr>
        <p:spPr>
          <a:xfrm>
            <a:off x="516358" y="654846"/>
            <a:ext cx="24577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22" y="278411"/>
            <a:ext cx="1188720" cy="11187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15300" y="601980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 flipH="1">
            <a:off x="6153149" y="6389132"/>
            <a:ext cx="6219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90537" y="1403152"/>
            <a:ext cx="1132522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lightweight and robust multimodal transformer framework for accurate human emotion recognition across speech, facial, and textual modalities.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efficient hybrid fusion mechanism using adaptive attention and parameter sharing to reduce computational overhead without compromising model accuracy.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targeted Data Augmentation strategy to enhance performance on underrepresented emotion categories and improve cross-domain generalization.</a:t>
            </a:r>
          </a:p>
          <a:p>
            <a:pPr marL="342900" indent="-342900" algn="just"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proof-of-concept application to demonstrate the end-to-end workflow from multimodal feature extraction to real-time emotion prediction.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2873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3D058-10AC-D7F2-255B-579BA95B9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A2F0B1-5732-631A-7BCB-EAFC73DBA020}"/>
              </a:ext>
            </a:extLst>
          </p:cNvPr>
          <p:cNvSpPr txBox="1"/>
          <p:nvPr/>
        </p:nvSpPr>
        <p:spPr>
          <a:xfrm>
            <a:off x="516358" y="654846"/>
            <a:ext cx="45618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2BA1C-7FC5-9CA8-6997-E71469B480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22" y="278411"/>
            <a:ext cx="1188720" cy="11187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5BD1FF-AE30-E1C3-5EB8-8440DA185B1C}"/>
              </a:ext>
            </a:extLst>
          </p:cNvPr>
          <p:cNvSpPr txBox="1"/>
          <p:nvPr/>
        </p:nvSpPr>
        <p:spPr>
          <a:xfrm>
            <a:off x="8115300" y="601980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5C90DF-1C86-DCD3-26D3-9EEBEC6FC4C2}"/>
              </a:ext>
            </a:extLst>
          </p:cNvPr>
          <p:cNvSpPr txBox="1"/>
          <p:nvPr/>
        </p:nvSpPr>
        <p:spPr>
          <a:xfrm flipH="1">
            <a:off x="6153149" y="6389132"/>
            <a:ext cx="6219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DFB954-10D5-1546-9164-10F35927DDF1}"/>
              </a:ext>
            </a:extLst>
          </p:cNvPr>
          <p:cNvSpPr/>
          <p:nvPr/>
        </p:nvSpPr>
        <p:spPr>
          <a:xfrm>
            <a:off x="516358" y="1403152"/>
            <a:ext cx="1132522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Multimodal integration: combining textual, auditory, and visual modalities to achieve comprehensive emotion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architecture design: implementing parameter-efficient hybrid transformer models that reduce computational load and enable real-time deployment.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 enhancement: incorporating modality reliability estimation and modality dropout techniques to handle noisy or missing data inputs effectively.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for low-resource emotions: applying targeted augmentation and class-balancing strategies to improve recognition of rare or underrepresented emotional categories.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Cross-domain generalization: training and validating the system on multiple benchmark datasets to ensure scalability and adaptability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implementation: developing a proof-of-concept application that demonstrates end-to-end emotion recognition and visualization for applications in education, mental health monitoring, and human–AI interaction.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316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0DB12-D484-A034-53C3-B122C2D05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D0C563-8957-0203-F3B1-FCE5BF15D7D6}"/>
              </a:ext>
            </a:extLst>
          </p:cNvPr>
          <p:cNvSpPr txBox="1"/>
          <p:nvPr/>
        </p:nvSpPr>
        <p:spPr>
          <a:xfrm flipH="1">
            <a:off x="105104" y="369331"/>
            <a:ext cx="62011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A diagram of a flowchart&#10;&#10;AI-generated content may be incorrect.">
            <a:extLst>
              <a:ext uri="{FF2B5EF4-FFF2-40B4-BE49-F238E27FC236}">
                <a16:creationId xmlns:a16="http://schemas.microsoft.com/office/drawing/2014/main" id="{ACEF9120-40CB-F78A-4B1D-317C52976D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2693" y="961697"/>
            <a:ext cx="10665069" cy="552697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C05BEC-F3D4-C15F-0154-EE2E6DFAF8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922" y="278411"/>
            <a:ext cx="1237440" cy="12372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099EEA-1357-C7C1-83FE-985F8B1C6AE9}"/>
              </a:ext>
            </a:extLst>
          </p:cNvPr>
          <p:cNvSpPr txBox="1"/>
          <p:nvPr/>
        </p:nvSpPr>
        <p:spPr>
          <a:xfrm>
            <a:off x="6125228" y="6488668"/>
            <a:ext cx="7690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019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A24B02-7010-409D-D39D-DD842A7CBC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553" y="582236"/>
            <a:ext cx="9683847" cy="5978316"/>
          </a:xfrm>
          <a:prstGeom prst="rect">
            <a:avLst/>
          </a:prstGeom>
        </p:spPr>
      </p:pic>
      <p:sp>
        <p:nvSpPr>
          <p:cNvPr id="200" name="TextBox 10"/>
          <p:cNvSpPr/>
          <p:nvPr/>
        </p:nvSpPr>
        <p:spPr>
          <a:xfrm flipH="1">
            <a:off x="-2986217" y="137520"/>
            <a:ext cx="1087416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800" b="1" strike="noStrike" spc="-1" dirty="0">
                <a:solidFill>
                  <a:schemeClr val="dk1"/>
                </a:solidFill>
                <a:latin typeface="Times New Roman"/>
              </a:rPr>
              <a:t>Finalized ARCHITECTURE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1" name="Picture 7"/>
          <p:cNvPicPr/>
          <p:nvPr/>
        </p:nvPicPr>
        <p:blipFill>
          <a:blip r:embed="rId3"/>
          <a:stretch/>
        </p:blipFill>
        <p:spPr>
          <a:xfrm>
            <a:off x="9821880" y="186840"/>
            <a:ext cx="1236240" cy="1167120"/>
          </a:xfrm>
          <a:prstGeom prst="rect">
            <a:avLst/>
          </a:prstGeom>
          <a:ln w="0"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8B672B-0F95-0ABB-8A6D-2E682FE71B9F}"/>
              </a:ext>
            </a:extLst>
          </p:cNvPr>
          <p:cNvSpPr txBox="1"/>
          <p:nvPr/>
        </p:nvSpPr>
        <p:spPr>
          <a:xfrm flipH="1">
            <a:off x="6357254" y="6488668"/>
            <a:ext cx="690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BE7B00-4268-D863-8638-0DA1E4AE2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83985" y="2444872"/>
            <a:ext cx="7624029" cy="2397368"/>
          </a:xfrm>
          <a:prstGeom prst="rect">
            <a:avLst/>
          </a:prstGeom>
        </p:spPr>
      </p:pic>
      <p:sp>
        <p:nvSpPr>
          <p:cNvPr id="253" name="TextBox 31"/>
          <p:cNvSpPr/>
          <p:nvPr/>
        </p:nvSpPr>
        <p:spPr>
          <a:xfrm>
            <a:off x="-355680" y="198000"/>
            <a:ext cx="532836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2800" b="0" strike="noStrike" spc="-1">
                <a:solidFill>
                  <a:schemeClr val="dk1"/>
                </a:solidFill>
                <a:latin typeface="Calibri"/>
              </a:rPr>
              <a:t>Data Flow Diagram- level 0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4" name="Picture 5"/>
          <p:cNvPicPr/>
          <p:nvPr/>
        </p:nvPicPr>
        <p:blipFill>
          <a:blip r:embed="rId3"/>
          <a:stretch/>
        </p:blipFill>
        <p:spPr>
          <a:xfrm>
            <a:off x="9646920" y="154800"/>
            <a:ext cx="1364040" cy="1035000"/>
          </a:xfrm>
          <a:prstGeom prst="rect">
            <a:avLst/>
          </a:prstGeom>
          <a:ln w="0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D19E4E-A025-48A0-80E4-E5FF6794580F}"/>
              </a:ext>
            </a:extLst>
          </p:cNvPr>
          <p:cNvSpPr txBox="1"/>
          <p:nvPr/>
        </p:nvSpPr>
        <p:spPr>
          <a:xfrm flipH="1">
            <a:off x="6357254" y="6488668"/>
            <a:ext cx="690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3191312-2F59-5662-9003-7D07605CA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037" y="798724"/>
            <a:ext cx="4711919" cy="5784956"/>
          </a:xfrm>
          <a:prstGeom prst="rect">
            <a:avLst/>
          </a:prstGeom>
        </p:spPr>
      </p:pic>
      <p:sp>
        <p:nvSpPr>
          <p:cNvPr id="284" name="TextBox 50"/>
          <p:cNvSpPr/>
          <p:nvPr/>
        </p:nvSpPr>
        <p:spPr>
          <a:xfrm>
            <a:off x="390960" y="274320"/>
            <a:ext cx="410904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2800" b="0" strike="noStrike" spc="-1">
                <a:solidFill>
                  <a:schemeClr val="dk1"/>
                </a:solidFill>
                <a:latin typeface="Calibri"/>
              </a:rPr>
              <a:t>Data Flow Diagram- level 1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5" name="Picture 5"/>
          <p:cNvPicPr/>
          <p:nvPr/>
        </p:nvPicPr>
        <p:blipFill>
          <a:blip r:embed="rId3"/>
          <a:stretch/>
        </p:blipFill>
        <p:spPr>
          <a:xfrm>
            <a:off x="9646920" y="154800"/>
            <a:ext cx="1364040" cy="1035000"/>
          </a:xfrm>
          <a:prstGeom prst="rect">
            <a:avLst/>
          </a:prstGeom>
          <a:ln w="0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996C90-F83A-FBAE-BE19-844B92361BC0}"/>
              </a:ext>
            </a:extLst>
          </p:cNvPr>
          <p:cNvSpPr txBox="1"/>
          <p:nvPr/>
        </p:nvSpPr>
        <p:spPr>
          <a:xfrm flipH="1">
            <a:off x="6357254" y="6488668"/>
            <a:ext cx="690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28B0FED-C515-6216-629E-A6F266FF2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014" y="1166400"/>
            <a:ext cx="6055320" cy="5002915"/>
          </a:xfrm>
          <a:prstGeom prst="rect">
            <a:avLst/>
          </a:prstGeom>
        </p:spPr>
      </p:pic>
      <p:cxnSp>
        <p:nvCxnSpPr>
          <p:cNvPr id="421" name="Straight Connector 75"/>
          <p:cNvCxnSpPr/>
          <p:nvPr/>
        </p:nvCxnSpPr>
        <p:spPr>
          <a:xfrm>
            <a:off x="1316880" y="343800"/>
            <a:ext cx="53640" cy="939240"/>
          </a:xfrm>
          <a:prstGeom prst="straightConnector1">
            <a:avLst/>
          </a:prstGeom>
          <a:ln w="0">
            <a:noFill/>
          </a:ln>
        </p:spPr>
      </p:cxnSp>
      <p:pic>
        <p:nvPicPr>
          <p:cNvPr id="426" name="Picture 5"/>
          <p:cNvPicPr/>
          <p:nvPr/>
        </p:nvPicPr>
        <p:blipFill>
          <a:blip r:embed="rId3"/>
          <a:stretch/>
        </p:blipFill>
        <p:spPr>
          <a:xfrm>
            <a:off x="9646920" y="154800"/>
            <a:ext cx="1364040" cy="1035000"/>
          </a:xfrm>
          <a:prstGeom prst="rect">
            <a:avLst/>
          </a:prstGeom>
          <a:ln w="0">
            <a:noFill/>
          </a:ln>
        </p:spPr>
      </p:pic>
      <p:sp>
        <p:nvSpPr>
          <p:cNvPr id="427" name="TextBox 89"/>
          <p:cNvSpPr/>
          <p:nvPr/>
        </p:nvSpPr>
        <p:spPr>
          <a:xfrm>
            <a:off x="421560" y="496800"/>
            <a:ext cx="1074708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2800" b="1" strike="noStrike" spc="-1">
                <a:solidFill>
                  <a:schemeClr val="dk1"/>
                </a:solidFill>
                <a:latin typeface="Calibri"/>
              </a:rPr>
              <a:t>Use case Diagram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9A026C-46AE-6864-10F8-D367CB7E8878}"/>
              </a:ext>
            </a:extLst>
          </p:cNvPr>
          <p:cNvSpPr txBox="1"/>
          <p:nvPr/>
        </p:nvSpPr>
        <p:spPr>
          <a:xfrm flipH="1">
            <a:off x="6357254" y="6488668"/>
            <a:ext cx="690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BAC6D8-AA8B-FD2C-5D93-82E881DAF0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38" y="749497"/>
            <a:ext cx="9830124" cy="5607023"/>
          </a:xfrm>
          <a:prstGeom prst="rect">
            <a:avLst/>
          </a:prstGeom>
        </p:spPr>
      </p:pic>
      <p:pic>
        <p:nvPicPr>
          <p:cNvPr id="462" name="Picture 5"/>
          <p:cNvPicPr/>
          <p:nvPr/>
        </p:nvPicPr>
        <p:blipFill>
          <a:blip r:embed="rId4"/>
          <a:stretch/>
        </p:blipFill>
        <p:spPr>
          <a:xfrm>
            <a:off x="11351520" y="-360"/>
            <a:ext cx="839520" cy="666720"/>
          </a:xfrm>
          <a:prstGeom prst="rect">
            <a:avLst/>
          </a:prstGeom>
          <a:ln w="0">
            <a:noFill/>
          </a:ln>
        </p:spPr>
      </p:pic>
      <p:sp>
        <p:nvSpPr>
          <p:cNvPr id="463" name="TextBox 119"/>
          <p:cNvSpPr/>
          <p:nvPr/>
        </p:nvSpPr>
        <p:spPr>
          <a:xfrm>
            <a:off x="396360" y="182160"/>
            <a:ext cx="1074708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2800" b="0" strike="noStrike" spc="-1">
                <a:solidFill>
                  <a:schemeClr val="dk1"/>
                </a:solidFill>
                <a:latin typeface="Calibri"/>
              </a:rPr>
              <a:t>Sequence Diagram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2CF81-3B26-1EA6-6339-E90CE65963AD}"/>
              </a:ext>
            </a:extLst>
          </p:cNvPr>
          <p:cNvSpPr txBox="1"/>
          <p:nvPr/>
        </p:nvSpPr>
        <p:spPr>
          <a:xfrm flipH="1">
            <a:off x="6357254" y="6488668"/>
            <a:ext cx="690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89ED3C-9FA8-8855-1CE4-45ACAA4697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487" y="678724"/>
            <a:ext cx="5704173" cy="5877596"/>
          </a:xfrm>
          <a:prstGeom prst="rect">
            <a:avLst/>
          </a:prstGeom>
        </p:spPr>
      </p:pic>
      <p:sp>
        <p:nvSpPr>
          <p:cNvPr id="500" name="TextBox 49"/>
          <p:cNvSpPr/>
          <p:nvPr/>
        </p:nvSpPr>
        <p:spPr>
          <a:xfrm>
            <a:off x="375840" y="301680"/>
            <a:ext cx="257292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2800" b="1" strike="noStrike" spc="-1">
                <a:solidFill>
                  <a:schemeClr val="dk1"/>
                </a:solidFill>
                <a:latin typeface="Calibri"/>
              </a:rPr>
              <a:t>Class diagram 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1" name="Picture 5"/>
          <p:cNvPicPr/>
          <p:nvPr/>
        </p:nvPicPr>
        <p:blipFill>
          <a:blip r:embed="rId4"/>
          <a:stretch/>
        </p:blipFill>
        <p:spPr>
          <a:xfrm>
            <a:off x="9646920" y="154800"/>
            <a:ext cx="1364040" cy="1035000"/>
          </a:xfrm>
          <a:prstGeom prst="rect">
            <a:avLst/>
          </a:prstGeom>
          <a:ln w="0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145473-F77B-9F25-3B20-BB0715688911}"/>
              </a:ext>
            </a:extLst>
          </p:cNvPr>
          <p:cNvSpPr txBox="1"/>
          <p:nvPr/>
        </p:nvSpPr>
        <p:spPr>
          <a:xfrm flipH="1">
            <a:off x="6357254" y="6488668"/>
            <a:ext cx="690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3DF8EAC-F929-CFB3-5F8C-8F34764CB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825" y="507252"/>
            <a:ext cx="2282004" cy="6350748"/>
          </a:xfrm>
          <a:prstGeom prst="rect">
            <a:avLst/>
          </a:prstGeom>
        </p:spPr>
      </p:pic>
      <p:sp>
        <p:nvSpPr>
          <p:cNvPr id="620" name="TextBox 145"/>
          <p:cNvSpPr/>
          <p:nvPr/>
        </p:nvSpPr>
        <p:spPr>
          <a:xfrm>
            <a:off x="0" y="38520"/>
            <a:ext cx="2642400" cy="51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2800" b="1" strike="noStrike" spc="-1">
                <a:solidFill>
                  <a:schemeClr val="dk1"/>
                </a:solidFill>
                <a:latin typeface="Calibri"/>
              </a:rPr>
              <a:t>Activity Diagram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7" name="Picture 5"/>
          <p:cNvPicPr/>
          <p:nvPr/>
        </p:nvPicPr>
        <p:blipFill>
          <a:blip r:embed="rId3"/>
          <a:stretch/>
        </p:blipFill>
        <p:spPr>
          <a:xfrm>
            <a:off x="10679760" y="92880"/>
            <a:ext cx="1364040" cy="1035000"/>
          </a:xfrm>
          <a:prstGeom prst="rect">
            <a:avLst/>
          </a:prstGeom>
          <a:ln w="0"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738D42-DF96-3E32-2158-7558DFDB624B}"/>
              </a:ext>
            </a:extLst>
          </p:cNvPr>
          <p:cNvSpPr txBox="1"/>
          <p:nvPr/>
        </p:nvSpPr>
        <p:spPr>
          <a:xfrm flipH="1">
            <a:off x="6357254" y="6488668"/>
            <a:ext cx="690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extBox 156"/>
          <p:cNvSpPr/>
          <p:nvPr/>
        </p:nvSpPr>
        <p:spPr>
          <a:xfrm>
            <a:off x="1116000" y="110520"/>
            <a:ext cx="827964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IN" sz="2800" b="1" strike="noStrike" spc="-1" dirty="0">
                <a:solidFill>
                  <a:schemeClr val="dk1"/>
                </a:solidFill>
                <a:latin typeface="Calibri"/>
              </a:rPr>
              <a:t>IMPLEMENTATION </a:t>
            </a:r>
            <a:r>
              <a:rPr lang="en-IN" sz="2800" b="1" spc="-1" dirty="0">
                <a:solidFill>
                  <a:schemeClr val="dk1"/>
                </a:solidFill>
                <a:latin typeface="Calibri"/>
              </a:rPr>
              <a:t>&amp; RESULTS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55" name="Picture 19"/>
          <p:cNvPicPr/>
          <p:nvPr/>
        </p:nvPicPr>
        <p:blipFill>
          <a:blip r:embed="rId3"/>
          <a:stretch/>
        </p:blipFill>
        <p:spPr>
          <a:xfrm>
            <a:off x="10679760" y="92880"/>
            <a:ext cx="1364040" cy="1035000"/>
          </a:xfrm>
          <a:prstGeom prst="rect">
            <a:avLst/>
          </a:prstGeom>
          <a:ln w="0">
            <a:noFill/>
          </a:ln>
        </p:spPr>
      </p:pic>
      <p:sp>
        <p:nvSpPr>
          <p:cNvPr id="658" name="TextBox 4"/>
          <p:cNvSpPr/>
          <p:nvPr/>
        </p:nvSpPr>
        <p:spPr>
          <a:xfrm>
            <a:off x="147960" y="1051200"/>
            <a:ext cx="5938200" cy="213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EE44FA-2439-FF21-F54D-2D067CFB6B33}"/>
              </a:ext>
            </a:extLst>
          </p:cNvPr>
          <p:cNvSpPr txBox="1"/>
          <p:nvPr/>
        </p:nvSpPr>
        <p:spPr>
          <a:xfrm flipH="1">
            <a:off x="6357254" y="6488668"/>
            <a:ext cx="690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946FD3-1F8A-9290-C552-8F9E24C1AA03}"/>
              </a:ext>
            </a:extLst>
          </p:cNvPr>
          <p:cNvSpPr txBox="1"/>
          <p:nvPr/>
        </p:nvSpPr>
        <p:spPr>
          <a:xfrm>
            <a:off x="147960" y="643164"/>
            <a:ext cx="11806974" cy="6882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DistilRoBERTa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(82 million parameters) for text analysis</a:t>
            </a:r>
          </a:p>
          <a:p>
            <a:pPr>
              <a:lnSpc>
                <a:spcPts val="1425"/>
              </a:lnSpc>
            </a:pP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Wav2Vec2 XLSR-300M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(317 million parameters) for audio analysis</a:t>
            </a:r>
          </a:p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Fused through a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learned attention mechanism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(6 million parameters)</a:t>
            </a:r>
          </a:p>
          <a:p>
            <a:pPr>
              <a:lnSpc>
                <a:spcPts val="1425"/>
              </a:lnSpc>
              <a:buNone/>
            </a:pP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system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405 million parameters, achieving </a:t>
            </a:r>
            <a:r>
              <a:rPr lang="en-US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**87.6% F1 score**</a:t>
            </a:r>
            <a:r>
              <a:rPr lang="en-US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the IEMOCAP and MELD emotion datasets.“</a:t>
            </a:r>
          </a:p>
          <a:p>
            <a:pPr marL="285750" indent="-285750">
              <a:lnSpc>
                <a:spcPts val="1425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/>
              <a:t>A. Text Processing Pipeline</a:t>
            </a:r>
            <a:endParaRPr lang="en-US" dirty="0"/>
          </a:p>
          <a:p>
            <a:r>
              <a:rPr lang="en-US" dirty="0"/>
              <a:t>	Step 1: Tokenization</a:t>
            </a:r>
          </a:p>
          <a:p>
            <a:r>
              <a:rPr lang="en-US" dirty="0"/>
              <a:t>	Step 2: Embedding</a:t>
            </a:r>
          </a:p>
          <a:p>
            <a:r>
              <a:rPr lang="en-US" dirty="0"/>
              <a:t>	Step 3: Projection</a:t>
            </a:r>
          </a:p>
          <a:p>
            <a:r>
              <a:rPr lang="en-US" b="1" dirty="0"/>
              <a:t>B. Audio Processing Pipeline						</a:t>
            </a:r>
            <a:endParaRPr lang="en-US" dirty="0"/>
          </a:p>
          <a:p>
            <a:r>
              <a:rPr lang="en-US" dirty="0"/>
              <a:t>	Step 1: Audio Capture</a:t>
            </a:r>
            <a:br>
              <a:rPr lang="en-US" dirty="0"/>
            </a:br>
            <a:r>
              <a:rPr lang="en-US" dirty="0"/>
              <a:t>	Step 2: Feature Extraction</a:t>
            </a:r>
          </a:p>
          <a:p>
            <a:r>
              <a:rPr lang="en-US" dirty="0"/>
              <a:t>	Step 3: Projection</a:t>
            </a:r>
          </a:p>
          <a:p>
            <a:r>
              <a:rPr lang="en-US" b="1" dirty="0"/>
              <a:t>C. Attention-Based Fusion Mechanism</a:t>
            </a:r>
          </a:p>
          <a:p>
            <a:r>
              <a:rPr lang="en-US" b="1" dirty="0"/>
              <a:t>	</a:t>
            </a:r>
            <a:r>
              <a:rPr lang="en-US" dirty="0"/>
              <a:t>Unlike simple concatenation or averaging, attention learns which modality is more reliable for each input.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Text can be ambiguous ('I'm fine' - sarcasm?)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Audio can be noisy (background sound, poor mic)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Dynamic weighting adapts to input quality</a:t>
            </a:r>
          </a:p>
          <a:p>
            <a:r>
              <a:rPr lang="en-US" b="1" dirty="0"/>
              <a:t>D. Classification Layer</a:t>
            </a:r>
            <a:endParaRPr lang="en-US" dirty="0"/>
          </a:p>
          <a:p>
            <a:r>
              <a:rPr lang="en-US" dirty="0"/>
              <a:t>probabilities = </a:t>
            </a:r>
            <a:r>
              <a:rPr lang="en-US" dirty="0" err="1"/>
              <a:t>softmax</a:t>
            </a:r>
            <a:r>
              <a:rPr lang="en-US" dirty="0"/>
              <a:t>(x)            # [</a:t>
            </a:r>
            <a:r>
              <a:rPr lang="en-US" dirty="0" err="1"/>
              <a:t>p_happiness</a:t>
            </a:r>
            <a:r>
              <a:rPr lang="en-US" dirty="0"/>
              <a:t>, </a:t>
            </a:r>
            <a:r>
              <a:rPr lang="en-US" dirty="0" err="1"/>
              <a:t>p_sadness</a:t>
            </a:r>
            <a:r>
              <a:rPr lang="en-US" dirty="0"/>
              <a:t>, </a:t>
            </a:r>
            <a:r>
              <a:rPr lang="en-US" dirty="0" err="1"/>
              <a:t>p_anger</a:t>
            </a:r>
            <a:r>
              <a:rPr lang="en-US" dirty="0"/>
              <a:t>]</a:t>
            </a:r>
          </a:p>
          <a:p>
            <a:r>
              <a:rPr lang="en-US" dirty="0"/>
              <a:t>prediction = argmax(probabilities)    # Highest probability emotion</a:t>
            </a:r>
          </a:p>
          <a:p>
            <a:endParaRPr lang="en-US" dirty="0"/>
          </a:p>
          <a:p>
            <a:endParaRPr lang="en-US" dirty="0"/>
          </a:p>
          <a:p>
            <a:pPr>
              <a:lnSpc>
                <a:spcPts val="1425"/>
              </a:lnSpc>
            </a:pPr>
            <a:endParaRPr lang="en-US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3F4B7-957B-BADA-8A9B-B05C88009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" name="Picture 19">
            <a:extLst>
              <a:ext uri="{FF2B5EF4-FFF2-40B4-BE49-F238E27FC236}">
                <a16:creationId xmlns:a16="http://schemas.microsoft.com/office/drawing/2014/main" id="{0B18FDF2-B12E-1438-ACB9-1850E0524B0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0679760" y="92880"/>
            <a:ext cx="1364040" cy="1035000"/>
          </a:xfrm>
          <a:prstGeom prst="rect">
            <a:avLst/>
          </a:prstGeom>
          <a:ln w="0">
            <a:noFill/>
          </a:ln>
        </p:spPr>
      </p:pic>
      <p:sp>
        <p:nvSpPr>
          <p:cNvPr id="658" name="TextBox 4">
            <a:extLst>
              <a:ext uri="{FF2B5EF4-FFF2-40B4-BE49-F238E27FC236}">
                <a16:creationId xmlns:a16="http://schemas.microsoft.com/office/drawing/2014/main" id="{427C064D-E92F-D6E1-5E9D-5C9F8BC57A18}"/>
              </a:ext>
            </a:extLst>
          </p:cNvPr>
          <p:cNvSpPr/>
          <p:nvPr/>
        </p:nvSpPr>
        <p:spPr>
          <a:xfrm>
            <a:off x="147960" y="1051200"/>
            <a:ext cx="5938200" cy="213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82F008-1A41-2C01-C16E-F7F27982CC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5" y="168121"/>
            <a:ext cx="4856672" cy="33109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C573EB-E959-E1BB-CBC4-2CBAC11D5A8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842" y="168121"/>
            <a:ext cx="4435155" cy="30468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37BED5-BF35-3BA6-F247-533FEB5F164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4" y="3648786"/>
            <a:ext cx="4856671" cy="29025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33777C2-16C8-2F1B-FEF8-0BA5C756D39B}"/>
              </a:ext>
            </a:extLst>
          </p:cNvPr>
          <p:cNvSpPr txBox="1"/>
          <p:nvPr/>
        </p:nvSpPr>
        <p:spPr>
          <a:xfrm flipH="1">
            <a:off x="6357254" y="6488668"/>
            <a:ext cx="6904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E37C5C-D89D-5C45-7D36-D1C5131F4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71885"/>
              </p:ext>
            </p:extLst>
          </p:nvPr>
        </p:nvGraphicFramePr>
        <p:xfrm>
          <a:off x="5850467" y="3617393"/>
          <a:ext cx="5588000" cy="246888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33436296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31020108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70594897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701374439"/>
                    </a:ext>
                  </a:extLst>
                </a:gridCol>
              </a:tblGrid>
              <a:tr h="347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Accuracy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F1-Score (Macro)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F1-Score (Weighted)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6328473"/>
                  </a:ext>
                </a:extLst>
              </a:tr>
              <a:tr h="347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Validation Set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87.32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87.02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87.22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0091589"/>
                  </a:ext>
                </a:extLst>
              </a:tr>
              <a:tr h="347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Test Set (Best Model)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87.72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87.33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dirty="0"/>
                        <a:t>87.60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1827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5681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7050" y="368065"/>
            <a:ext cx="1027780" cy="9673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1000" y="404243"/>
            <a:ext cx="4533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 flipH="1">
            <a:off x="6248400" y="6400799"/>
            <a:ext cx="594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Engineering, MCET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0549" y="1335388"/>
            <a:ext cx="10715625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develop an efficient and robust multimodal emotion recognition system that addresses the limitations of current transformer-based approaches, including high computational cost, sensitivity to noisy or missing modalities, and limited recognition of low-resource emotions.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lightweight hybrid fusion transformers with adaptive attention and modality reliability estimation, the framework ensures effective cross-modal learning and resilience in real-world environments.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inclusion of targeted data augmentation and class-balancing strategies further enhances the model’s ability to generalize across diverse datasets and emotion categories.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scalability and real-time performance, the proposed system can be extended to various domains such as digital education, mental health assessment, and human–AI interaction, paving the way for more empathetic, efficient, and context-aware intelligent systems.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86008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B814F6-450D-85C9-AB78-F0ED5E35F938}"/>
              </a:ext>
            </a:extLst>
          </p:cNvPr>
          <p:cNvSpPr txBox="1"/>
          <p:nvPr/>
        </p:nvSpPr>
        <p:spPr>
          <a:xfrm>
            <a:off x="3474722" y="2413337"/>
            <a:ext cx="58329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74084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12484</TotalTime>
  <Words>2383</Words>
  <Application>Microsoft Office PowerPoint</Application>
  <PresentationFormat>Widescreen</PresentationFormat>
  <Paragraphs>252</Paragraphs>
  <Slides>23</Slides>
  <Notes>9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ABSTRACT</vt:lpstr>
      <vt:lpstr>INTRODUCTION</vt:lpstr>
      <vt:lpstr>MOTIVATION</vt:lpstr>
      <vt:lpstr>PowerPoint Presentation</vt:lpstr>
      <vt:lpstr>LITERATURE SURVEY</vt:lpstr>
      <vt:lpstr>LITERATURE SURVEY</vt:lpstr>
      <vt:lpstr>LITERATURE SURVEY</vt:lpstr>
      <vt:lpstr>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PNEUMONIA DETECTION USING DEEPLEARNING</dc:title>
  <dc:creator>mom dad deep ramya Sandeep kakunuri</dc:creator>
  <cp:lastModifiedBy>Sainath Ch</cp:lastModifiedBy>
  <cp:revision>53</cp:revision>
  <dcterms:created xsi:type="dcterms:W3CDTF">2024-11-19T15:14:10Z</dcterms:created>
  <dcterms:modified xsi:type="dcterms:W3CDTF">2026-02-07T07:10:15Z</dcterms:modified>
</cp:coreProperties>
</file>